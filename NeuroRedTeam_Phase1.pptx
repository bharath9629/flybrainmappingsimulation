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3" r:id="rId28"/>
    <p:sldId id="272" r:id="rId27"/>
    <p:sldId id="275" r:id="rId30"/>
    <p:sldId id="274" r:id="rId29"/>
    <p:sldId id="265" r:id="rId11"/>
    <p:sldId id="266" r:id="rId12"/>
    <p:sldId id="267" r:id="rId13"/>
    <p:sldId id="268" r:id="rId14"/>
    <p:sldId id="271" r:id="rId26"/>
    <p:sldId id="269" r:id="rId15"/>
    <p:sldId id="270" r:id="rId16"/>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9.xml"/><Relationship Id="rId16" Type="http://schemas.openxmlformats.org/officeDocument/2006/relationships/slide" Target="slides/slide20.xml"/><Relationship Id="rId17" Type="http://schemas.openxmlformats.org/officeDocument/2006/relationships/notesMaster" Target="notesMasters/notesMaster1.xml"/><Relationship Id="rId21" Type="http://customschemas.google.com/relationships/presentationmetadata" Target="meta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18.xml"/><Relationship Id="rId27" Type="http://schemas.openxmlformats.org/officeDocument/2006/relationships/slide" Target="slides/slide11.xml"/><Relationship Id="rId28" Type="http://schemas.openxmlformats.org/officeDocument/2006/relationships/slide" Target="slides/slide10.xml"/><Relationship Id="rId29" Type="http://schemas.openxmlformats.org/officeDocument/2006/relationships/slide" Target="slides/slide13.xml"/><Relationship Id="rId30"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400" b="1" dirty="0">
                <a:solidFill>
                  <a:srgbClr val="FF0000"/>
                </a:solidFill>
                <a:latin typeface="Bookman Old Style"/>
                <a:ea typeface="Bookman Old Style"/>
                <a:cs typeface="Bookman Old Style"/>
                <a:sym typeface="Bookman Old Style"/>
              </a:rPr>
              <a:t>NeuroRedTeam: Attack and Repair Testing of a Real Fly Brain</a:t>
            </a:r>
            <a:endParaRPr dirty="0"/>
          </a:p>
          <a:p>
            <a:pPr marL="0" marR="0" lvl="0" indent="0" algn="ctr" rtl="0">
              <a:spcBef>
                <a:spcPts val="0"/>
              </a:spcBef>
              <a:spcAft>
                <a:spcPts val="0"/>
              </a:spcAft>
              <a:buNone/>
            </a:pPr>
            <a:r>
              <a:rPr lang="en-IN" sz="2000" b="1" dirty="0">
                <a:solidFill>
                  <a:srgbClr val="FFFFFF"/>
                </a:solidFill>
                <a:latin typeface="Bookman Old Style"/>
                <a:ea typeface="Bookman Old Style"/>
                <a:cs typeface="Bookman Old Style"/>
                <a:sym typeface="Bookman Old Style"/>
              </a:rPr>
              <a:t>How fragile is a brain's behaviour, and how do you fix it?</a:t>
            </a:r>
            <a:endParaRPr dirty="0"/>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000" b="1" dirty="0">
                <a:solidFill>
                  <a:srgbClr val="FF0000"/>
                </a:solidFill>
                <a:latin typeface="Bookman Old Style"/>
                <a:ea typeface="Bookman Old Style"/>
                <a:cs typeface="Bookman Old Style"/>
                <a:sym typeface="Bookman Old Style"/>
              </a:rPr>
              <a:t>Theme: Artificial Intelligence, Neural Networks and Computational Neuroscience</a:t>
            </a:r>
            <a:endParaRPr dirty="0">
              <a:solidFill>
                <a:srgbClr val="FF0000"/>
              </a:solidFill>
            </a:endParaRPr>
          </a:p>
          <a:p>
            <a:pPr marL="0" marR="0" lvl="0" indent="0" algn="ctr" rtl="0">
              <a:spcBef>
                <a:spcPts val="0"/>
              </a:spcBef>
              <a:spcAft>
                <a:spcPts val="0"/>
              </a:spcAft>
              <a:buNone/>
            </a:pPr>
            <a:r>
              <a:rPr lang="en-IN" sz="1800" b="1" dirty="0">
                <a:solidFill>
                  <a:srgbClr val="FFFFFF"/>
                </a:solidFill>
                <a:latin typeface="Bookman Old Style"/>
                <a:ea typeface="Bookman Old Style"/>
                <a:cs typeface="Bookman Old Style"/>
                <a:sym typeface="Bookman Old Style"/>
              </a:rPr>
              <a:t>Team: Govind  |  Bharath  |  Dhanush A  |  Shreenidhi Chalmi</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6" name="Google Shape;136;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3" name="Text Placeholder 2">
            <a:extLst>
              <a:ext uri="{FF2B5EF4-FFF2-40B4-BE49-F238E27FC236}">
                <a16:creationId xmlns:a16="http://schemas.microsoft.com/office/drawing/2014/main" id="{8F120F54-8A74-8F01-C238-9E7D324C3DE6}"/>
              </a:ext>
            </a:extLst>
          </p:cNvPr>
          <p:cNvSpPr>
            <a:spLocks noGrp="1"/>
          </p:cNvSpPr>
          <p:nvPr>
            <p:ph type="body" idx="1"/>
          </p:nvPr>
        </p:nvSpPr>
        <p:spPr/>
        <p:txBody>
          <a:bodyPr/>
          <a:lstStyle/>
          <a:p>
            <a:r>
              <a:rPr lang="en-IN" dirty="0"/>
              <a:t>Experiential Learning – outline of tentative steps / methodology adopted (or to be adopted)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700" b="1"/>
              <a:t xml:space="preserve">The starting point: </a:t>
            </a:r>
            <a:r>
              <a:rPr lang="en-IN" sz="1700"/>
              <a:t>In October 2024 scientists finished mapping every neuron and every connection in a fruit fly's brain: 139,255 neurons, 15 million connections, released free. It is the first complete wiring diagram of an animal that can walk, fly, see and learn. A follow-up paper showed the whole map can be run on a normal laptop and it behaves like a real fly.</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What we already have running: </a:t>
            </a:r>
            <a:r>
              <a:rPr lang="en-IN" sz="1700"/>
              <a:t>we reproduced that simulation on our laptop. Give the simulated fly sugar and its feeding neuron fires; give it random input and nothing happens. Cut 3 specific neurons out of 139,255 and feeding stops; cut 10 random ones and nothing changes (slides 10 and 11).</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The question we ask: </a:t>
            </a:r>
            <a:r>
              <a:rPr lang="en-IN" sz="1700"/>
              <a:t>that 3-neuron result was found by hand, for one behaviour. Nobody knows, for the brain as a whole, how few targeted changes it takes to break a behaviour, or how few it takes to repair it. We treat the brain like a system under security testing: one AI attacks, one AI repairs, and we record the results for every behaviour we can measure.</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Why it matters: </a:t>
            </a:r>
            <a:r>
              <a:rPr lang="en-IN" sz="1700"/>
              <a:t>it tells neuroscientists which circuits are fragile and which are protected, it is a first step toward designing repair stimulation (the logic behind deep brain stimulation) on a complete brain, and every result is a prediction a real fly lab can test.</a:t>
            </a:r>
            <a:endParaRPr sz="17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400" b="1"/>
              <a:t>The map and the simulation:</a:t>
            </a:r>
            <a:endParaRPr sz="1400"/>
          </a:p>
          <a:p>
            <a:pPr marL="228600" lvl="0" indent="-50800" algn="l" rtl="0">
              <a:lnSpc>
                <a:spcPct val="90000"/>
              </a:lnSpc>
              <a:spcBef>
                <a:spcPts val="1000"/>
              </a:spcBef>
              <a:spcAft>
                <a:spcPts val="0"/>
              </a:spcAft>
              <a:buClr>
                <a:srgbClr val="002060"/>
              </a:buClr>
              <a:buSzPts val="2800"/>
              <a:buNone/>
            </a:pPr>
            <a:r>
              <a:rPr lang="en-IN" sz="1300" b="1"/>
              <a:t xml:space="preserve">Dorkenwald et al. (2024, Nature): </a:t>
            </a:r>
            <a:r>
              <a:rPr lang="en-IN" sz="1300"/>
              <a:t>the complete fly brain connectome (FlyWire).</a:t>
            </a:r>
            <a:endParaRPr sz="1300"/>
          </a:p>
          <a:p>
            <a:pPr marL="228600" lvl="0" indent="-50800" algn="l" rtl="0">
              <a:lnSpc>
                <a:spcPct val="90000"/>
              </a:lnSpc>
              <a:spcBef>
                <a:spcPts val="1000"/>
              </a:spcBef>
              <a:spcAft>
                <a:spcPts val="0"/>
              </a:spcAft>
              <a:buClr>
                <a:srgbClr val="002060"/>
              </a:buClr>
              <a:buSzPts val="2800"/>
              <a:buNone/>
            </a:pPr>
            <a:r>
              <a:rPr lang="en-IN" sz="1300" b="1"/>
              <a:t xml:space="preserve">Shiu et al. (2024, Nature): </a:t>
            </a:r>
            <a:r>
              <a:rPr lang="en-IN" sz="1300"/>
              <a:t>ran the whole map with simple spiking neurons on a laptop and correctly predicted feeding, grooming and more. We reproduced this.</a:t>
            </a:r>
            <a:endParaRPr sz="1300"/>
          </a:p>
          <a:p>
            <a:pPr marL="228600" lvl="0" indent="-228600" algn="l" rtl="0">
              <a:lnSpc>
                <a:spcPct val="90000"/>
              </a:lnSpc>
              <a:spcBef>
                <a:spcPts val="1000"/>
              </a:spcBef>
              <a:spcAft>
                <a:spcPts val="0"/>
              </a:spcAft>
              <a:buClr>
                <a:srgbClr val="002060"/>
              </a:buClr>
              <a:buSzPts val="2800"/>
              <a:buChar char="•"/>
            </a:pPr>
            <a:r>
              <a:rPr lang="en-IN" sz="1400" b="1"/>
              <a:t>Perturbing the brain model (the closest prior work):</a:t>
            </a:r>
            <a:endParaRPr sz="1400"/>
          </a:p>
          <a:p>
            <a:pPr marL="228600" lvl="0" indent="-50800" algn="l" rtl="0">
              <a:lnSpc>
                <a:spcPct val="90000"/>
              </a:lnSpc>
              <a:spcBef>
                <a:spcPts val="1000"/>
              </a:spcBef>
              <a:spcAft>
                <a:spcPts val="0"/>
              </a:spcAft>
              <a:buClr>
                <a:srgbClr val="002060"/>
              </a:buClr>
              <a:buSzPts val="2800"/>
              <a:buNone/>
            </a:pPr>
            <a:r>
              <a:rPr lang="en-IN" sz="1300" b="1"/>
              <a:t xml:space="preserve">Shiu et al. (2024) and a bioRxiv preprint (Dec 2025): </a:t>
            </a:r>
            <a:r>
              <a:rPr lang="en-IN" sz="1300"/>
              <a:t>silenced hand-picked neurons in the same model to test specific ideas; the 2025 work ran combinatorial silencing of two inhibitors and found feeding suppression is redundant. Manual, one circuit, no search for minimal sets, no repair.</a:t>
            </a:r>
            <a:endParaRPr sz="1300"/>
          </a:p>
          <a:p>
            <a:pPr marL="228600" lvl="0" indent="-50800" algn="l" rtl="0">
              <a:lnSpc>
                <a:spcPct val="90000"/>
              </a:lnSpc>
              <a:spcBef>
                <a:spcPts val="1000"/>
              </a:spcBef>
              <a:spcAft>
                <a:spcPts val="0"/>
              </a:spcAft>
              <a:buClr>
                <a:srgbClr val="002060"/>
              </a:buClr>
              <a:buSzPts val="2800"/>
              <a:buNone/>
            </a:pPr>
            <a:r>
              <a:rPr lang="en-IN" sz="1300" b="1"/>
              <a:t xml:space="preserve">Pospisil et al. (2024, Nature, the effectome): </a:t>
            </a:r>
            <a:r>
              <a:rPr lang="en-IN" sz="1300"/>
              <a:t>a linear model of the whole fly brain that predicts what perturbing one neuron does to others.</a:t>
            </a:r>
            <a:endParaRPr sz="1300"/>
          </a:p>
          <a:p>
            <a:pPr marL="228600" lvl="0" indent="-50800" algn="l" rtl="0">
              <a:lnSpc>
                <a:spcPct val="90000"/>
              </a:lnSpc>
              <a:spcBef>
                <a:spcPts val="1000"/>
              </a:spcBef>
              <a:spcAft>
                <a:spcPts val="0"/>
              </a:spcAft>
              <a:buClr>
                <a:srgbClr val="002060"/>
              </a:buClr>
              <a:buSzPts val="2800"/>
              <a:buNone/>
            </a:pPr>
            <a:r>
              <a:rPr lang="en-IN" sz="1300" b="1"/>
              <a:t xml:space="preserve">Yan et al. (2017, Nature): </a:t>
            </a:r>
            <a:r>
              <a:rPr lang="en-IN" sz="1300"/>
              <a:t>control theory on the 302-neuron worm to find the minimal driver neurons for movement; one prediction was confirmed by laser ablation in real worms. Worm only, linear maths, no behaviour simulation, no repair.</a:t>
            </a:r>
            <a:endParaRPr sz="1300"/>
          </a:p>
          <a:p>
            <a:pPr marL="228600" lvl="0" indent="-228600" algn="l" rtl="0">
              <a:lnSpc>
                <a:spcPct val="90000"/>
              </a:lnSpc>
              <a:spcBef>
                <a:spcPts val="1000"/>
              </a:spcBef>
              <a:spcAft>
                <a:spcPts val="0"/>
              </a:spcAft>
              <a:buClr>
                <a:srgbClr val="002060"/>
              </a:buClr>
              <a:buSzPts val="2800"/>
              <a:buChar char="•"/>
            </a:pPr>
            <a:r>
              <a:rPr lang="en-IN" sz="1400" b="1"/>
              <a:t xml:space="preserve">AI agents that run experiments: </a:t>
            </a:r>
            <a:r>
              <a:rPr lang="en-IN" sz="1400"/>
              <a:t>exist for chemistry, materials science and quantum physics (2025 to 2026). For the fly brain only single-command tools exist (type "give sugar", get one run). No agent chooses its own experiments on a brain.</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Gap (as far as we could find): </a:t>
            </a:r>
            <a:r>
              <a:rPr lang="en-IN" sz="1400"/>
              <a:t>no automated search of a whole-brain behavioural simulation for the smallest change that breaks a behaviour, no automated design of the smallest stimulation that repairs it, and no table of how fragile each fly behaviour is.</a:t>
            </a:r>
            <a:endParaRPr sz="1400"/>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 xml:space="preserve">The problem: </a:t>
            </a:r>
            <a:r>
              <a:rPr lang="en-IN" sz="1600"/>
              <a:t>we have every wire in a brain, but we do not know how fragile its behaviours are. Prior work silenced a few hand-picked neurons at a time. There is no systematic answer to: how few targeted changes can hijack a behaviour, which neurons are the weak points, and what is the smallest intervention that restores normal function.</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Why it matters if left unanswered: </a:t>
            </a:r>
            <a:r>
              <a:rPr lang="en-IN" sz="1600"/>
              <a:t>neuroscientists cannot tell which circuits are protected by redundancy and which are single points of failure; nobody can design repair stimulation on a complete brain; and the mouse and human brain maps now being built will hit the same gap with far larger networks.</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Problem statement: </a:t>
            </a:r>
            <a:r>
              <a:rPr lang="en-IN" sz="1600"/>
              <a:t>Build a laptop platform that runs the complete fruit-fly connectome as a spiking neural network with measurable behaviours (eat, refuse bitter, groom, escape). On it, build an attacker agent that finds the minimal constrained set of perturbations that forces or blocks a behaviour, and a defender agent that finds the minimal stimulation that restores it. Produce a fragility atlas of fly behaviours and a benchmark comparing random search, greedy search and LLM agents on this task.</a:t>
            </a:r>
            <a:endParaRPr sz="1600"/>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500" b="1"/>
              <a:t xml:space="preserve">Main objective: </a:t>
            </a:r>
            <a:r>
              <a:rPr lang="en-IN" sz="1500"/>
              <a:t>measure, for a complete real brain, how easy each behaviour is to break and how easy it is to repair, using two AI agents that play attacker and defender.</a:t>
            </a:r>
            <a:endParaRPr sz="1500"/>
          </a:p>
          <a:p>
            <a:pPr marL="228600" lvl="0" indent="-228600" algn="l" rtl="0">
              <a:lnSpc>
                <a:spcPct val="90000"/>
              </a:lnSpc>
              <a:spcBef>
                <a:spcPts val="1000"/>
              </a:spcBef>
              <a:spcAft>
                <a:spcPts val="0"/>
              </a:spcAft>
              <a:buClr>
                <a:srgbClr val="002060"/>
              </a:buClr>
              <a:buSzPts val="2800"/>
              <a:buChar char="•"/>
            </a:pPr>
            <a:r>
              <a:rPr lang="en-IN" sz="1500" b="1"/>
              <a:t>Specific objectives:</a:t>
            </a:r>
            <a:endParaRPr sz="1500"/>
          </a:p>
          <a:p>
            <a:pPr marL="228600" lvl="0" indent="-50800" algn="l" rtl="0">
              <a:lnSpc>
                <a:spcPct val="90000"/>
              </a:lnSpc>
              <a:spcBef>
                <a:spcPts val="1000"/>
              </a:spcBef>
              <a:spcAft>
                <a:spcPts val="0"/>
              </a:spcAft>
              <a:buClr>
                <a:srgbClr val="002060"/>
              </a:buClr>
              <a:buSzPts val="2800"/>
              <a:buNone/>
            </a:pPr>
            <a:r>
              <a:rPr lang="en-IN" sz="1400" b="1"/>
              <a:t xml:space="preserve">Platform: </a:t>
            </a:r>
            <a:r>
              <a:rPr lang="en-IN" sz="1400"/>
              <a:t>fast simulator of all 139,255 neurons (stimulate, record, cut, weaken, inject), a name table for neurons, and four measurable behaviours reproduced from the 2024 Nature paper.</a:t>
            </a:r>
            <a:endParaRPr sz="1400"/>
          </a:p>
          <a:p>
            <a:pPr marL="228600" lvl="0" indent="-50800" algn="l" rtl="0">
              <a:lnSpc>
                <a:spcPct val="90000"/>
              </a:lnSpc>
              <a:spcBef>
                <a:spcPts val="1000"/>
              </a:spcBef>
              <a:spcAft>
                <a:spcPts val="0"/>
              </a:spcAft>
              <a:buClr>
                <a:srgbClr val="002060"/>
              </a:buClr>
              <a:buSzPts val="2800"/>
              <a:buNone/>
            </a:pPr>
            <a:r>
              <a:rPr lang="en-IN" sz="1400" b="1"/>
              <a:t xml:space="preserve">Attack rules: </a:t>
            </a:r>
            <a:r>
              <a:rPr lang="en-IN" sz="1400"/>
              <a:t>a written attack surface so the problem is not trivial: no touching motor neurons, only silence, weaken or inject at realistic rates, with a budget.</a:t>
            </a:r>
            <a:endParaRPr sz="1400"/>
          </a:p>
          <a:p>
            <a:pPr marL="228600" lvl="0" indent="-50800" algn="l" rtl="0">
              <a:lnSpc>
                <a:spcPct val="90000"/>
              </a:lnSpc>
              <a:spcBef>
                <a:spcPts val="1000"/>
              </a:spcBef>
              <a:spcAft>
                <a:spcPts val="0"/>
              </a:spcAft>
              <a:buClr>
                <a:srgbClr val="002060"/>
              </a:buClr>
              <a:buSzPts val="2800"/>
              <a:buNone/>
            </a:pPr>
            <a:r>
              <a:rPr lang="en-IN" sz="1400" b="1"/>
              <a:t xml:space="preserve">Attacker agent: </a:t>
            </a:r>
            <a:r>
              <a:rPr lang="en-IN" sz="1400"/>
              <a:t>finds the smallest set of allowed changes that forces a behaviour (eat with no sugar), blocks it (no eating with sugar) or corrupts it (eat bitter). Three versions: random, greedy, LLM with tools.</a:t>
            </a:r>
            <a:endParaRPr sz="1400"/>
          </a:p>
          <a:p>
            <a:pPr marL="228600" lvl="0" indent="-50800" algn="l" rtl="0">
              <a:lnSpc>
                <a:spcPct val="90000"/>
              </a:lnSpc>
              <a:spcBef>
                <a:spcPts val="1000"/>
              </a:spcBef>
              <a:spcAft>
                <a:spcPts val="0"/>
              </a:spcAft>
              <a:buClr>
                <a:srgbClr val="002060"/>
              </a:buClr>
              <a:buSzPts val="2800"/>
              <a:buNone/>
            </a:pPr>
            <a:r>
              <a:rPr lang="en-IN" sz="1400" b="1"/>
              <a:t xml:space="preserve">Defender agent: </a:t>
            </a:r>
            <a:r>
              <a:rPr lang="en-IN" sz="1400"/>
              <a:t>given the attacked brain, finds the smallest set of neurons to stimulate that restores the behaviour, and proves it did not simply force it (must work with sugar and stay quiet without).</a:t>
            </a:r>
            <a:endParaRPr sz="1400"/>
          </a:p>
          <a:p>
            <a:pPr marL="228600" lvl="0" indent="-50800" algn="l" rtl="0">
              <a:lnSpc>
                <a:spcPct val="90000"/>
              </a:lnSpc>
              <a:spcBef>
                <a:spcPts val="1000"/>
              </a:spcBef>
              <a:spcAft>
                <a:spcPts val="0"/>
              </a:spcAft>
              <a:buClr>
                <a:srgbClr val="002060"/>
              </a:buClr>
              <a:buSzPts val="2800"/>
              <a:buNone/>
            </a:pPr>
            <a:r>
              <a:rPr lang="en-IN" sz="1400" b="1"/>
              <a:t xml:space="preserve">Fragility atlas and benchmark: </a:t>
            </a:r>
            <a:r>
              <a:rPr lang="en-IN" sz="1400"/>
              <a:t>for each behaviour: minimal attack size, minimal repair size, key neurons, redundancy; plus how many simulations each method needed.</a:t>
            </a:r>
            <a:endParaRPr sz="1400"/>
          </a:p>
          <a:p>
            <a:pPr marL="228600" lvl="0" indent="-50800" algn="l" rtl="0">
              <a:lnSpc>
                <a:spcPct val="90000"/>
              </a:lnSpc>
              <a:spcBef>
                <a:spcPts val="1000"/>
              </a:spcBef>
              <a:spcAft>
                <a:spcPts val="0"/>
              </a:spcAft>
              <a:buClr>
                <a:srgbClr val="002060"/>
              </a:buClr>
              <a:buSzPts val="2800"/>
              <a:buNone/>
            </a:pPr>
            <a:r>
              <a:rPr lang="en-IN" sz="1400" b="1"/>
              <a:t xml:space="preserve">Virtual fly and dashboard: </a:t>
            </a:r>
            <a:r>
              <a:rPr lang="en-IN" sz="1400"/>
              <a:t>a 2-D fly driven by the brain and one web page: press Attack, watch neurons turn red and the fly stop eating; press Defend, watch it eat again.</a:t>
            </a:r>
            <a:endParaRPr sz="1400"/>
          </a:p>
          <a:p>
            <a:pPr marL="228600" lvl="0" indent="-228600" algn="l" rtl="0">
              <a:lnSpc>
                <a:spcPct val="90000"/>
              </a:lnSpc>
              <a:spcBef>
                <a:spcPts val="1000"/>
              </a:spcBef>
              <a:spcAft>
                <a:spcPts val="0"/>
              </a:spcAft>
              <a:buClr>
                <a:srgbClr val="002060"/>
              </a:buClr>
              <a:buSzPts val="2800"/>
              <a:buChar char="•"/>
            </a:pPr>
            <a:r>
              <a:rPr lang="en-IN" sz="1500" b="1"/>
              <a:t xml:space="preserve">What we believe is new (to the best of our literature search): </a:t>
            </a:r>
            <a:r>
              <a:rPr lang="en-IN" sz="1500"/>
              <a:t>the automated search for minimal attacks, the repair agent, and the fragility atlas. The simulator and virtual fly are our platform, reproduced from published work, and we do not claim them as new.</a:t>
            </a:r>
            <a:endParaRPr sz="1500"/>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400" b="1"/>
              <a:t xml:space="preserve">Design: </a:t>
            </a:r>
            <a:r>
              <a:rPr lang="en-IN" sz="1400"/>
              <a:t>simulation experiments with controls. Every attack and repair is repeated over several random seeds; results are checked against the neurons named in published papers.</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Data: </a:t>
            </a:r>
            <a:r>
              <a:rPr lang="en-IN" sz="1400"/>
              <a:t>public FlyWire v783 connectome (neurons, synapse counts, excitatory or inhibitory sign, cell-type labels). No data collected from people or animals.</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Behaviours as numbers: </a:t>
            </a:r>
            <a:r>
              <a:rPr lang="en-IN" sz="1400"/>
              <a:t>eat = feeding neuron MN9 above 60 Hz with sugar; refuse = MN9 below 15 Hz with sugar plus bitter; groom and escape read from their descending neurons. Each is a pass or fail test the agents must satisfy.</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How an agent works: </a:t>
            </a:r>
            <a:r>
              <a:rPr lang="en-IN" sz="1400"/>
              <a:t>it is a decision loop with tools: look up who connects to whom, run the brain with chosen changes, read the result, choose the next experiment, stop at the goal. The rules are enforced in code, so the agent cannot cheat. Random and greedy versions use the same tools without an LLM, so we can measure whether the LLM is actually better.</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Speed: </a:t>
            </a:r>
            <a:r>
              <a:rPr lang="en-IN" sz="1400"/>
              <a:t>300 ms runs on the sub-network reachable from the stimulus, about 1 to 2 s each, with caching. An agent run of 30 experiments takes about a minute; the full atlas runs overnight.</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Tools: </a:t>
            </a:r>
            <a:r>
              <a:rPr lang="en-IN" sz="1400"/>
              <a:t>Python, NumPy and SciPy sparse, NetworkX, Claude or OpenAI API for the agents, pygame for the fly, FastAPI and a web page for the dashboard. Laptop only.</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Team: </a:t>
            </a:r>
            <a:r>
              <a:rPr lang="en-IN" sz="1400"/>
              <a:t>simulator speed-ups and virtual fly (Govind); name table, behaviours and validation (Bharath); attacker agent (Dhanush); attack rules, defender, benchmark scoring and dashboard (Shreenidhi).</a:t>
            </a:r>
            <a:endParaRPr sz="1400"/>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rgbClr val="002060"/>
              </a:buClr>
              <a:buSzPts val="2800"/>
              <a:buNone/>
            </a:pPr>
            <a:r>
              <a:rPr lang="en-IN" sz="1000"/>
              <a:t/>
            </a:r>
            <a:endParaRPr sz="1000"/>
          </a:p>
        </p:txBody>
      </p:sp>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
        <p:nvSpPr>
          <p:cNvPr id="194" name="Rounded Rectangle 193"/>
          <p:cNvSpPr/>
          <p:nvPr/>
        </p:nvSpPr>
        <p:spPr>
          <a:xfrm>
            <a:off x="502920" y="1051560"/>
            <a:ext cx="2514600" cy="96012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1. Load the brain</a:t>
            </a:r>
          </a:p>
          <a:p>
            <a:pPr algn="ctr"/>
            <a:r>
              <a:rPr sz="1100">
                <a:solidFill>
                  <a:srgbClr val="FFFFFF"/>
                </a:solidFill>
                <a:latin typeface="Bookman Old Style"/>
              </a:rPr>
              <a:t>FlyWire data: 139,255 neurons,
15 M connections   (done)</a:t>
            </a:r>
          </a:p>
        </p:txBody>
      </p:sp>
      <p:cxnSp>
        <p:nvCxnSpPr>
          <p:cNvPr id="195" name="Connector 194"/>
          <p:cNvCxnSpPr/>
          <p:nvPr/>
        </p:nvCxnSpPr>
        <p:spPr>
          <a:xfrm>
            <a:off x="3017520" y="15316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6" name="Rounded Rectangle 195"/>
          <p:cNvSpPr/>
          <p:nvPr/>
        </p:nvSpPr>
        <p:spPr>
          <a:xfrm>
            <a:off x="3401568" y="1051560"/>
            <a:ext cx="2514600" cy="96012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2. Simulator</a:t>
            </a:r>
          </a:p>
          <a:p>
            <a:pPr algn="ctr"/>
            <a:r>
              <a:rPr sz="1100">
                <a:solidFill>
                  <a:srgbClr val="FFFFFF"/>
                </a:solidFill>
                <a:latin typeface="Bookman Old Style"/>
              </a:rPr>
              <a:t>spiking neurons; stimulate,
record, cut, weaken, inject   (done)</a:t>
            </a:r>
          </a:p>
        </p:txBody>
      </p:sp>
      <p:cxnSp>
        <p:nvCxnSpPr>
          <p:cNvPr id="197" name="Connector 196"/>
          <p:cNvCxnSpPr/>
          <p:nvPr/>
        </p:nvCxnSpPr>
        <p:spPr>
          <a:xfrm>
            <a:off x="5916168" y="15316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8" name="Rounded Rectangle 197"/>
          <p:cNvSpPr/>
          <p:nvPr/>
        </p:nvSpPr>
        <p:spPr>
          <a:xfrm>
            <a:off x="6300216" y="1051560"/>
            <a:ext cx="2514600" cy="96012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3. Behaviours + rules</a:t>
            </a:r>
          </a:p>
          <a:p>
            <a:pPr algn="ctr"/>
            <a:r>
              <a:rPr sz="1100">
                <a:solidFill>
                  <a:srgbClr val="FFFFFF"/>
                </a:solidFill>
                <a:latin typeface="Bookman Old Style"/>
              </a:rPr>
              <a:t>eat, refuse bitter, groom, escape
as pass/fail tests; attack rules</a:t>
            </a:r>
          </a:p>
        </p:txBody>
      </p:sp>
      <p:cxnSp>
        <p:nvCxnSpPr>
          <p:cNvPr id="199" name="Connector 198"/>
          <p:cNvCxnSpPr/>
          <p:nvPr/>
        </p:nvCxnSpPr>
        <p:spPr>
          <a:xfrm>
            <a:off x="8814816" y="15316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0" name="Rounded Rectangle 199"/>
          <p:cNvSpPr/>
          <p:nvPr/>
        </p:nvSpPr>
        <p:spPr>
          <a:xfrm>
            <a:off x="9198864" y="1051560"/>
            <a:ext cx="2514600" cy="96012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4. Atlas + dashboard</a:t>
            </a:r>
          </a:p>
          <a:p>
            <a:pPr algn="ctr"/>
            <a:r>
              <a:rPr sz="1100">
                <a:solidFill>
                  <a:srgbClr val="FFFFFF"/>
                </a:solidFill>
                <a:latin typeface="Bookman Old Style"/>
              </a:rPr>
              <a:t>fragility atlas, benchmark,
Attack / Defend buttons, paper</a:t>
            </a:r>
          </a:p>
        </p:txBody>
      </p:sp>
      <p:sp>
        <p:nvSpPr>
          <p:cNvPr id="201" name="TextBox 200"/>
          <p:cNvSpPr txBox="1"/>
          <p:nvPr/>
        </p:nvSpPr>
        <p:spPr>
          <a:xfrm>
            <a:off x="502920" y="2148840"/>
            <a:ext cx="11155680" cy="365760"/>
          </a:xfrm>
          <a:prstGeom prst="rect">
            <a:avLst/>
          </a:prstGeom>
          <a:noFill/>
        </p:spPr>
        <p:txBody>
          <a:bodyPr wrap="square">
            <a:spAutoFit/>
          </a:bodyPr>
          <a:lstStyle/>
          <a:p>
            <a:pPr algn="ctr"/>
            <a:r>
              <a:rPr sz="1300">
                <a:solidFill>
                  <a:srgbClr val="002060"/>
                </a:solidFill>
                <a:latin typeface="Bookman Old Style"/>
              </a:rPr>
              <a:t>How each agent works (attacker and defender run the same loop with opposite goals):</a:t>
            </a:r>
          </a:p>
        </p:txBody>
      </p:sp>
      <p:sp>
        <p:nvSpPr>
          <p:cNvPr id="202" name="Rounded Rectangle 201"/>
          <p:cNvSpPr/>
          <p:nvPr/>
        </p:nvSpPr>
        <p:spPr>
          <a:xfrm>
            <a:off x="502920" y="2560320"/>
            <a:ext cx="2057400" cy="1234440"/>
          </a:xfrm>
          <a:prstGeom prst="roundRect">
            <a:avLst/>
          </a:prstGeom>
          <a:solidFill>
            <a:srgbClr val="C0000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Choose experiment</a:t>
            </a:r>
          </a:p>
          <a:p>
            <a:pPr algn="ctr"/>
            <a:r>
              <a:rPr sz="1100">
                <a:solidFill>
                  <a:srgbClr val="FFFFFF"/>
                </a:solidFill>
                <a:latin typeface="Bookman Old Style"/>
              </a:rPr>
              <a:t>look up wiring, pick neurons
to cut, weaken, inject or bias</a:t>
            </a:r>
          </a:p>
        </p:txBody>
      </p:sp>
      <p:cxnSp>
        <p:nvCxnSpPr>
          <p:cNvPr id="203" name="Connector 202"/>
          <p:cNvCxnSpPr/>
          <p:nvPr/>
        </p:nvCxnSpPr>
        <p:spPr>
          <a:xfrm>
            <a:off x="2560320" y="3177539"/>
            <a:ext cx="24688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4" name="Rounded Rectangle 203"/>
          <p:cNvSpPr/>
          <p:nvPr/>
        </p:nvSpPr>
        <p:spPr>
          <a:xfrm>
            <a:off x="2807208" y="2560320"/>
            <a:ext cx="2057400" cy="1234440"/>
          </a:xfrm>
          <a:prstGeom prst="roundRect">
            <a:avLst/>
          </a:prstGeom>
          <a:solidFill>
            <a:srgbClr val="C0000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Run the brain</a:t>
            </a:r>
          </a:p>
          <a:p>
            <a:pPr algn="ctr"/>
            <a:r>
              <a:rPr sz="1100">
                <a:solidFill>
                  <a:srgbClr val="FFFFFF"/>
                </a:solidFill>
                <a:latin typeface="Bookman Old Style"/>
              </a:rPr>
              <a:t>300 ms simulation with
the chosen changes</a:t>
            </a:r>
          </a:p>
        </p:txBody>
      </p:sp>
      <p:cxnSp>
        <p:nvCxnSpPr>
          <p:cNvPr id="205" name="Connector 204"/>
          <p:cNvCxnSpPr/>
          <p:nvPr/>
        </p:nvCxnSpPr>
        <p:spPr>
          <a:xfrm>
            <a:off x="4864608" y="3177539"/>
            <a:ext cx="24688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6" name="Rounded Rectangle 205"/>
          <p:cNvSpPr/>
          <p:nvPr/>
        </p:nvSpPr>
        <p:spPr>
          <a:xfrm>
            <a:off x="5111496" y="2560320"/>
            <a:ext cx="2057400" cy="1234440"/>
          </a:xfrm>
          <a:prstGeom prst="roundRect">
            <a:avLst/>
          </a:prstGeom>
          <a:solidFill>
            <a:srgbClr val="C0000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Check behaviour</a:t>
            </a:r>
          </a:p>
          <a:p>
            <a:pPr algn="ctr"/>
            <a:r>
              <a:rPr sz="1100">
                <a:solidFill>
                  <a:srgbClr val="FFFFFF"/>
                </a:solidFill>
                <a:latin typeface="Bookman Old Style"/>
              </a:rPr>
              <a:t>MN9 &gt; 60 Hz with sugar
and &lt; 10 Hz without</a:t>
            </a:r>
          </a:p>
        </p:txBody>
      </p:sp>
      <p:cxnSp>
        <p:nvCxnSpPr>
          <p:cNvPr id="207" name="Connector 206"/>
          <p:cNvCxnSpPr/>
          <p:nvPr/>
        </p:nvCxnSpPr>
        <p:spPr>
          <a:xfrm>
            <a:off x="7168896" y="3177539"/>
            <a:ext cx="246887"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8" name="Rounded Rectangle 207"/>
          <p:cNvSpPr/>
          <p:nvPr/>
        </p:nvSpPr>
        <p:spPr>
          <a:xfrm>
            <a:off x="7415784" y="2560320"/>
            <a:ext cx="2057400" cy="1234440"/>
          </a:xfrm>
          <a:prstGeom prst="roundRect">
            <a:avLst/>
          </a:prstGeom>
          <a:solidFill>
            <a:srgbClr val="C0000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Goal met?</a:t>
            </a:r>
          </a:p>
          <a:p>
            <a:pPr algn="ctr"/>
            <a:r>
              <a:rPr sz="1100">
                <a:solidFill>
                  <a:srgbClr val="FFFFFF"/>
                </a:solidFill>
                <a:latin typeface="Bookman Old Style"/>
              </a:rPr>
              <a:t>if not, use the result to
pick the next one (budget 30)</a:t>
            </a:r>
          </a:p>
        </p:txBody>
      </p:sp>
      <p:cxnSp>
        <p:nvCxnSpPr>
          <p:cNvPr id="209" name="Connector 208"/>
          <p:cNvCxnSpPr/>
          <p:nvPr/>
        </p:nvCxnSpPr>
        <p:spPr>
          <a:xfrm>
            <a:off x="9473184" y="3177539"/>
            <a:ext cx="24688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0" name="Rounded Rectangle 209"/>
          <p:cNvSpPr/>
          <p:nvPr/>
        </p:nvSpPr>
        <p:spPr>
          <a:xfrm>
            <a:off x="9720072" y="2560320"/>
            <a:ext cx="2057400" cy="123444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Record answer</a:t>
            </a:r>
          </a:p>
          <a:p>
            <a:pPr algn="ctr"/>
            <a:r>
              <a:rPr sz="1100">
                <a:solidFill>
                  <a:srgbClr val="FFFFFF"/>
                </a:solidFill>
                <a:latin typeface="Bookman Old Style"/>
              </a:rPr>
              <a:t>smallest set, neurons,
simulations used</a:t>
            </a:r>
          </a:p>
        </p:txBody>
      </p:sp>
      <p:cxnSp>
        <p:nvCxnSpPr>
          <p:cNvPr id="211" name="Connector 210"/>
          <p:cNvCxnSpPr/>
          <p:nvPr/>
        </p:nvCxnSpPr>
        <p:spPr>
          <a:xfrm>
            <a:off x="8444484" y="3794760"/>
            <a:ext cx="0" cy="32004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H="1">
            <a:off x="1531620" y="4114800"/>
            <a:ext cx="6912864"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1531620" y="3794760"/>
            <a:ext cx="0" cy="32004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502920" y="4343400"/>
            <a:ext cx="11155680" cy="914400"/>
          </a:xfrm>
          <a:prstGeom prst="rect">
            <a:avLst/>
          </a:prstGeom>
          <a:noFill/>
        </p:spPr>
        <p:txBody>
          <a:bodyPr wrap="square">
            <a:spAutoFit/>
          </a:bodyPr>
          <a:lstStyle/>
          <a:p>
            <a:pPr algn="ctr"/>
            <a:r>
              <a:rPr sz="1200">
                <a:solidFill>
                  <a:srgbClr val="002060"/>
                </a:solidFill>
                <a:latin typeface="Bookman Old Style"/>
              </a:rPr>
              <a:t>Attacker goal: break the behaviour with the fewest allowed changes (no motor neurons, realistic rates). Defender goal: with the attack still in place, restore the behaviour with the fewest stimulated neurons, and it must stay quiet without sugar. Three versions of each agent share this loop: random choice, greedy ranking, and an LLM that reasons over the wiring. Every result is repeated over several seeds and checked against published circuits.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4434840"/>
            <a:ext cx="11842377" cy="173736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500" b="1"/>
              <a:t xml:space="preserve">What this shows: </a:t>
            </a:r>
            <a:r>
              <a:rPr lang="en-IN" sz="1500"/>
              <a:t>the real brain runs on a laptop and matches Nature 2024. First atlas entry, done by hand: attack = cut 3 neurons, feeding drops from 85 to 1.7 Hz; repair = boost 6 surviving inputs (small bias plus x2 synapse strength), feeding returns to 42 Hz with sugar and stays at 0 Hz without sugar, so it is a real repair, not forcing. Simple repair moves failed; the combination worked, which is why the defender needs a search agent.</a:t>
            </a:r>
            <a:endParaRPr sz="15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
            </a:r>
            <a:fld id="{00000000-1234-1234-1234-123412341234}" type="slidenum">
              <a:rPr lang="en-IN"/>
              <a:t>10</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Preliminary Results</a:t>
            </a:r>
            <a:endParaRPr sz="4000" b="1">
              <a:solidFill>
                <a:srgbClr val="C00000"/>
              </a:solidFill>
              <a:latin typeface="Bookman Old Style"/>
              <a:ea typeface="Bookman Old Style"/>
              <a:cs typeface="Bookman Old Style"/>
              <a:sym typeface="Bookman Old Style"/>
            </a:endParaRPr>
          </a:p>
        </p:txBody>
      </p:sp>
      <p:pic>
        <p:nvPicPr>
          <p:cNvPr id="154" name="Picture 153" descr="sugar_test.png"/>
          <p:cNvPicPr>
            <a:picLocks noChangeAspect="1"/>
          </p:cNvPicPr>
          <p:nvPr/>
        </p:nvPicPr>
        <p:blipFill>
          <a:blip r:embed="rId2"/>
          <a:stretch>
            <a:fillRect/>
          </a:stretch>
        </p:blipFill>
        <p:spPr>
          <a:xfrm>
            <a:off x="411480" y="1234440"/>
            <a:ext cx="6035040" cy="2414016"/>
          </a:xfrm>
          <a:prstGeom prst="rect">
            <a:avLst/>
          </a:prstGeom>
        </p:spPr>
      </p:pic>
      <p:pic>
        <p:nvPicPr>
          <p:cNvPr id="155" name="Picture 154" descr="lesion_test.png"/>
          <p:cNvPicPr>
            <a:picLocks noChangeAspect="1"/>
          </p:cNvPicPr>
          <p:nvPr/>
        </p:nvPicPr>
        <p:blipFill>
          <a:blip r:embed="rId3"/>
          <a:stretch>
            <a:fillRect/>
          </a:stretch>
        </p:blipFill>
        <p:spPr>
          <a:xfrm>
            <a:off x="6720840" y="1234440"/>
            <a:ext cx="5120640" cy="2633472"/>
          </a:xfrm>
          <a:prstGeom prst="rect">
            <a:avLst/>
          </a:prstGeom>
        </p:spPr>
      </p:pic>
      <p:sp>
        <p:nvSpPr>
          <p:cNvPr id="156" name="TextBox 155"/>
          <p:cNvSpPr txBox="1"/>
          <p:nvPr/>
        </p:nvSpPr>
        <p:spPr>
          <a:xfrm>
            <a:off x="411480" y="3703320"/>
            <a:ext cx="6035040" cy="548640"/>
          </a:xfrm>
          <a:prstGeom prst="rect">
            <a:avLst/>
          </a:prstGeom>
          <a:noFill/>
        </p:spPr>
        <p:txBody>
          <a:bodyPr wrap="square">
            <a:spAutoFit/>
          </a:bodyPr>
          <a:lstStyle/>
          <a:p>
            <a:pPr algn="ctr"/>
            <a:r>
              <a:rPr sz="1200">
                <a:solidFill>
                  <a:srgbClr val="002060"/>
                </a:solidFill>
                <a:latin typeface="Bookman Old Style"/>
              </a:rPr>
              <a:t>Sugar on the tongue: about 380 neurons active, feeding neuron MN9 at 95 to 98 Hz.
Random input: MN9 silent (0 Hz). Same result in 3 of 3 runs.</a:t>
            </a:r>
          </a:p>
        </p:txBody>
      </p:sp>
      <p:sp>
        <p:nvSpPr>
          <p:cNvPr id="157" name="TextBox 156"/>
          <p:cNvSpPr txBox="1"/>
          <p:nvPr/>
        </p:nvSpPr>
        <p:spPr>
          <a:xfrm>
            <a:off x="6720840" y="3703320"/>
            <a:ext cx="5120640" cy="548640"/>
          </a:xfrm>
          <a:prstGeom prst="rect">
            <a:avLst/>
          </a:prstGeom>
          <a:noFill/>
        </p:spPr>
        <p:txBody>
          <a:bodyPr wrap="square">
            <a:spAutoFit/>
          </a:bodyPr>
          <a:lstStyle/>
          <a:p>
            <a:pPr algn="ctr"/>
            <a:r>
              <a:rPr sz="1100">
                <a:solidFill>
                  <a:srgbClr val="002060"/>
                </a:solidFill>
                <a:latin typeface="Bookman Old Style"/>
              </a:rPr>
              <a:t>First attack, done by hand: cut the 3 command neurons and feeding stops (1 Hz).
Cut 10 random neurons and nothing changes (91 Hz).</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9418320" y="1051560"/>
            <a:ext cx="2606040" cy="50292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300" b="1"/>
              <a:t xml:space="preserve">Animation (plays in slideshow): </a:t>
            </a:r>
            <a:r>
              <a:rPr lang="en-IN" sz="1300"/>
              <a:t>left, the real wiring with neurons flashing as they fire, placed by distance from the tongue. Right, a fly whose mouth is driven live by the MN9 feeding neuron.</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0 to 350 ms: </a:t>
            </a:r>
            <a:r>
              <a:rPr lang="en-IN" sz="1300"/>
              <a:t>sugar arrives, the signal spreads hop by hop, MN9 fires, the mouth extends.</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350 ms, the attack: </a:t>
            </a:r>
            <a:r>
              <a:rPr lang="en-IN" sz="1300"/>
              <a:t>3 command neurons are cut (red X), MN9 goes silent, the mouth retracts.</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Repair, tested by hand: </a:t>
            </a:r>
            <a:r>
              <a:rPr lang="en-IN" sz="1300"/>
              <a:t>boosting 6 surviving inputs brings feeding back to 42 Hz with sugar, 0 Hz without. Next two slides: the same brain playing Flappy Bird.</a:t>
            </a:r>
            <a:endParaRPr sz="13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
            </a:r>
            <a:fld id="{00000000-1234-1234-1234-123412341234}" type="slidenum">
              <a:rPr lang="en-IN"/>
              <a:t>11</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Live Demo</a:t>
            </a:r>
            <a:endParaRPr sz="4000" b="1">
              <a:solidFill>
                <a:srgbClr val="C00000"/>
              </a:solidFill>
              <a:latin typeface="Bookman Old Style"/>
              <a:ea typeface="Bookman Old Style"/>
              <a:cs typeface="Bookman Old Style"/>
              <a:sym typeface="Bookman Old Style"/>
            </a:endParaRPr>
          </a:p>
        </p:txBody>
      </p:sp>
      <p:pic>
        <p:nvPicPr>
          <p:cNvPr id="154" name="Picture 153" descr="fly_feeding_demo.gif"/>
          <p:cNvPicPr>
            <a:picLocks noChangeAspect="1"/>
          </p:cNvPicPr>
          <p:nvPr/>
        </p:nvPicPr>
        <p:blipFill>
          <a:blip r:embed="rId2"/>
          <a:stretch>
            <a:fillRect/>
          </a:stretch>
        </p:blipFill>
        <p:spPr>
          <a:xfrm>
            <a:off x="822960" y="1051560"/>
            <a:ext cx="8503920" cy="43936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6400800" y="1097280"/>
            <a:ext cx="5577840" cy="512064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300" b="1"/>
              <a:t xml:space="preserve">Why we did it: </a:t>
            </a:r>
            <a:r>
              <a:rPr lang="en-IN" sz="1300"/>
              <a:t>to check that the fly's wiring works as a neural network before building agents on it.</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The brain part: </a:t>
            </a:r>
            <a:r>
              <a:rPr lang="en-IN" sz="1300"/>
              <a:t>we took 3,000 real neurons and their 241,219 real connections (with the excitatory or inhibitory sign kept) and used them unchanged. Nothing about pipes or jumping is programmed.</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What it sees: </a:t>
            </a:r>
            <a:r>
              <a:rPr lang="en-IN" sz="1300"/>
              <a:t>34 on/off signals each frame: my height, the gap's height, distance to the pipe. No velocity, so the brain has to remember previous frames.</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What we trained: </a:t>
            </a:r>
            <a:r>
              <a:rPr lang="en-IN" sz="1300"/>
              <a:t>only one output layer of 3,001 numbers that reads the 3,000 neuron activities and says flap or not. We fitted it by watching a simple rule-based coach play, then let the brain play and corrected its own mistakes (a standard method called imitation learning with DAgger).</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Then it plays alone. </a:t>
            </a:r>
            <a:r>
              <a:rPr lang="en-IN" sz="1300"/>
              <a:t>Press a key and the wiring is scrambled, or 300 neurons are cut, while it plays.</a:t>
            </a:r>
            <a:endParaRPr sz="13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
            </a:r>
            <a:fld id="{00000000-1234-1234-1234-123412341234}" type="slidenum">
              <a:rPr lang="en-IN"/>
              <a:t>12</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Side Result: Flappy Bird</a:t>
            </a:r>
            <a:endParaRPr sz="4000" b="1">
              <a:solidFill>
                <a:srgbClr val="C00000"/>
              </a:solidFill>
              <a:latin typeface="Bookman Old Style"/>
              <a:ea typeface="Bookman Old Style"/>
              <a:cs typeface="Bookman Old Style"/>
              <a:sym typeface="Bookman Old Style"/>
            </a:endParaRPr>
          </a:p>
        </p:txBody>
      </p:sp>
      <p:pic>
        <p:nvPicPr>
          <p:cNvPr id="154" name="Picture 153" descr="flappy_fly_brain.gif"/>
          <p:cNvPicPr>
            <a:picLocks noChangeAspect="1"/>
          </p:cNvPicPr>
          <p:nvPr/>
        </p:nvPicPr>
        <p:blipFill>
          <a:blip r:embed="rId2"/>
          <a:stretch>
            <a:fillRect/>
          </a:stretch>
        </p:blipFill>
        <p:spPr>
          <a:xfrm>
            <a:off x="411480" y="1143000"/>
            <a:ext cx="5760720" cy="2880360"/>
          </a:xfrm>
          <a:prstGeom prst="rect">
            <a:avLst/>
          </a:prstGeom>
        </p:spPr>
      </p:pic>
      <p:sp>
        <p:nvSpPr>
          <p:cNvPr id="155" name="TextBox 154"/>
          <p:cNvSpPr txBox="1"/>
          <p:nvPr/>
        </p:nvSpPr>
        <p:spPr>
          <a:xfrm>
            <a:off x="411480" y="4480560"/>
            <a:ext cx="5760720" cy="457200"/>
          </a:xfrm>
          <a:prstGeom prst="rect">
            <a:avLst/>
          </a:prstGeom>
          <a:noFill/>
        </p:spPr>
        <p:txBody>
          <a:bodyPr wrap="square">
            <a:spAutoFit/>
          </a:bodyPr>
          <a:lstStyle/>
          <a:p>
            <a:pPr algn="ctr"/>
            <a:r>
              <a:rPr sz="1100">
                <a:solidFill>
                  <a:srgbClr val="002060"/>
                </a:solidFill>
                <a:latin typeface="Bookman Old Style"/>
              </a:rPr>
              <a:t>Animation (plays in slideshow). Left: the game. Right: 3,000 real fly neurons, brightness = activity.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3246120"/>
            <a:ext cx="11842377" cy="301752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400" b="1"/>
              <a:t xml:space="preserve">What worked: </a:t>
            </a:r>
            <a:r>
              <a:rPr lang="en-IN" sz="1400"/>
              <a:t>a real brain's wiring runs as a neural network and plays a game. When the game needs memory, having the recurrent brain beats having none by 3 to 10 times.</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What did not work, and we say so: </a:t>
            </a:r>
            <a:r>
              <a:rPr lang="en-IN" sz="1400"/>
              <a:t>the fly's exact wiring did not beat the same neurons with scrambled wiring. It tied, and with slower neurons it lost. This matches two 2024 to 2026 papers (Suarez et al.; Dhiman) which found no clear advantage for the fly wiring in this kind of simplified network. We do not claim one.</a:t>
            </a:r>
            <a:endParaRPr sz="1400"/>
          </a:p>
          <a:p>
            <a:pPr marL="228600" lvl="0" indent="-228600" algn="l" rtl="0">
              <a:lnSpc>
                <a:spcPct val="90000"/>
              </a:lnSpc>
              <a:spcBef>
                <a:spcPts val="1000"/>
              </a:spcBef>
              <a:spcAft>
                <a:spcPts val="0"/>
              </a:spcAft>
              <a:buClr>
                <a:srgbClr val="002060"/>
              </a:buClr>
              <a:buSzPts val="2800"/>
              <a:buChar char="•"/>
            </a:pPr>
            <a:r>
              <a:rPr lang="en-IN" sz="1400" b="1"/>
              <a:t xml:space="preserve">Why this shaped the project: </a:t>
            </a:r>
            <a:r>
              <a:rPr lang="en-IN" sz="1400"/>
              <a:t>it showed us the platform works, and it showed that "is nature's wiring better?" is a crowded and disputed question. So we moved the project to a question we could not find answered anywhere: how fragile is each behaviour, and how do you repair it.</a:t>
            </a:r>
            <a:endParaRPr sz="14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
            </a:r>
            <a:fld id="{00000000-1234-1234-1234-123412341234}" type="slidenum">
              <a:rPr lang="en-IN"/>
              <a:t>13</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Flappy Bird: Honest Results</a:t>
            </a:r>
            <a:endParaRPr sz="4000" b="1">
              <a:solidFill>
                <a:srgbClr val="C00000"/>
              </a:solidFill>
              <a:latin typeface="Bookman Old Style"/>
              <a:ea typeface="Bookman Old Style"/>
              <a:cs typeface="Bookman Old Style"/>
              <a:sym typeface="Bookman Old Style"/>
            </a:endParaRPr>
          </a:p>
        </p:txBody>
      </p:sp>
      <p:graphicFrame>
        <p:nvGraphicFramePr>
          <p:cNvPr id="154" name="Table 153"/>
          <p:cNvGraphicFramePr>
            <a:graphicFrameLocks noGrp="1"/>
          </p:cNvGraphicFramePr>
          <p:nvPr/>
        </p:nvGraphicFramePr>
        <p:xfrm>
          <a:off x="457200" y="1188720"/>
          <a:ext cx="11247120" cy="1828800"/>
        </p:xfrm>
        <a:graphic>
          <a:graphicData uri="http://schemas.openxmlformats.org/drawingml/2006/table">
            <a:tbl>
              <a:tblPr firstRow="1" bandRow="1">
                <a:tableStyleId>{5C22544A-7EE6-4342-B048-85BDC9FD1C3A}</a:tableStyleId>
              </a:tblPr>
              <a:tblGrid>
                <a:gridCol w="4114800"/>
                <a:gridCol w="2377440"/>
                <a:gridCol w="2377440"/>
                <a:gridCol w="2377440"/>
              </a:tblGrid>
              <a:tr h="457200">
                <a:tc>
                  <a:txBody>
                    <a:bodyPr/>
                    <a:lstStyle/>
                    <a:p>
                      <a:pPr>
                        <a:defRPr sz="1300" b="1">
                          <a:solidFill>
                            <a:srgbClr val="FFFFFF"/>
                          </a:solidFill>
                          <a:latin typeface="Bookman Old Style"/>
                        </a:defRPr>
                      </a:pPr>
                      <a:r>
                        <a:t>Game version</a:t>
                      </a:r>
                    </a:p>
                  </a:txBody>
                  <a:tcPr>
                    <a:solidFill>
                      <a:srgbClr val="002060"/>
                    </a:solidFill>
                  </a:tcPr>
                </a:tc>
                <a:tc>
                  <a:txBody>
                    <a:bodyPr/>
                    <a:lstStyle/>
                    <a:p>
                      <a:pPr>
                        <a:defRPr sz="1300" b="1">
                          <a:solidFill>
                            <a:srgbClr val="FFFFFF"/>
                          </a:solidFill>
                          <a:latin typeface="Bookman Old Style"/>
                        </a:defRPr>
                      </a:pPr>
                      <a:r>
                        <a:t>Fly brain (real wiring)</a:t>
                      </a:r>
                    </a:p>
                  </a:txBody>
                  <a:tcPr>
                    <a:solidFill>
                      <a:srgbClr val="002060"/>
                    </a:solidFill>
                  </a:tcPr>
                </a:tc>
                <a:tc>
                  <a:txBody>
                    <a:bodyPr/>
                    <a:lstStyle/>
                    <a:p>
                      <a:pPr>
                        <a:defRPr sz="1300" b="1">
                          <a:solidFill>
                            <a:srgbClr val="FFFFFF"/>
                          </a:solidFill>
                          <a:latin typeface="Bookman Old Style"/>
                        </a:defRPr>
                      </a:pPr>
                      <a:r>
                        <a:t>Same neurons, wiring scrambled</a:t>
                      </a:r>
                    </a:p>
                  </a:txBody>
                  <a:tcPr>
                    <a:solidFill>
                      <a:srgbClr val="002060"/>
                    </a:solidFill>
                  </a:tcPr>
                </a:tc>
                <a:tc>
                  <a:txBody>
                    <a:bodyPr/>
                    <a:lstStyle/>
                    <a:p>
                      <a:pPr>
                        <a:defRPr sz="1300" b="1">
                          <a:solidFill>
                            <a:srgbClr val="FFFFFF"/>
                          </a:solidFill>
                          <a:latin typeface="Bookman Old Style"/>
                        </a:defRPr>
                      </a:pPr>
                      <a:r>
                        <a:t>No brain (plain output layer)</a:t>
                      </a:r>
                    </a:p>
                  </a:txBody>
                  <a:tcPr>
                    <a:solidFill>
                      <a:srgbClr val="002060"/>
                    </a:solidFill>
                  </a:tcPr>
                </a:tc>
              </a:tr>
              <a:tr h="457200">
                <a:tc>
                  <a:txBody>
                    <a:bodyPr/>
                    <a:lstStyle/>
                    <a:p>
                      <a:pPr>
                        <a:defRPr sz="1300" b="1">
                          <a:solidFill>
                            <a:srgbClr val="002060"/>
                          </a:solidFill>
                          <a:latin typeface="Bookman Old Style"/>
                        </a:defRPr>
                      </a:pPr>
                      <a:r>
                        <a:t>Normal game (100 games)</a:t>
                      </a:r>
                    </a:p>
                  </a:txBody>
                  <a:tcPr>
                    <a:solidFill>
                      <a:srgbClr val="F2F5FA"/>
                    </a:solidFill>
                  </a:tcPr>
                </a:tc>
                <a:tc>
                  <a:txBody>
                    <a:bodyPr/>
                    <a:lstStyle/>
                    <a:p>
                      <a:pPr>
                        <a:defRPr sz="1300" b="0">
                          <a:solidFill>
                            <a:srgbClr val="002060"/>
                          </a:solidFill>
                          <a:latin typeface="Bookman Old Style"/>
                        </a:defRPr>
                      </a:pPr>
                      <a:r>
                        <a:t>25 pipes</a:t>
                      </a:r>
                    </a:p>
                  </a:txBody>
                  <a:tcPr>
                    <a:solidFill>
                      <a:srgbClr val="F2F5FA"/>
                    </a:solidFill>
                  </a:tcPr>
                </a:tc>
                <a:tc>
                  <a:txBody>
                    <a:bodyPr/>
                    <a:lstStyle/>
                    <a:p>
                      <a:pPr>
                        <a:defRPr sz="1300" b="0">
                          <a:solidFill>
                            <a:srgbClr val="002060"/>
                          </a:solidFill>
                          <a:latin typeface="Bookman Old Style"/>
                        </a:defRPr>
                      </a:pPr>
                      <a:r>
                        <a:t>20 pipes</a:t>
                      </a:r>
                    </a:p>
                  </a:txBody>
                  <a:tcPr>
                    <a:solidFill>
                      <a:srgbClr val="F2F5FA"/>
                    </a:solidFill>
                  </a:tcPr>
                </a:tc>
                <a:tc>
                  <a:txBody>
                    <a:bodyPr/>
                    <a:lstStyle/>
                    <a:p>
                      <a:pPr>
                        <a:defRPr sz="1300" b="0">
                          <a:solidFill>
                            <a:srgbClr val="002060"/>
                          </a:solidFill>
                          <a:latin typeface="Bookman Old Style"/>
                        </a:defRPr>
                      </a:pPr>
                      <a:r>
                        <a:t>37 pipes</a:t>
                      </a:r>
                    </a:p>
                  </a:txBody>
                  <a:tcPr>
                    <a:solidFill>
                      <a:srgbClr val="F2F5FA"/>
                    </a:solidFill>
                  </a:tcPr>
                </a:tc>
              </a:tr>
              <a:tr h="457200">
                <a:tc>
                  <a:txBody>
                    <a:bodyPr/>
                    <a:lstStyle/>
                    <a:p>
                      <a:pPr>
                        <a:defRPr sz="1300" b="1">
                          <a:solidFill>
                            <a:srgbClr val="002060"/>
                          </a:solidFill>
                          <a:latin typeface="Bookman Old Style"/>
                        </a:defRPr>
                      </a:pPr>
                      <a:r>
                        <a:t>Pipe hidden when close, needs memory (100 games)</a:t>
                      </a:r>
                    </a:p>
                  </a:txBody>
                  <a:tcPr>
                    <a:solidFill>
                      <a:srgbClr val="F2F5FA"/>
                    </a:solidFill>
                  </a:tcPr>
                </a:tc>
                <a:tc>
                  <a:txBody>
                    <a:bodyPr/>
                    <a:lstStyle/>
                    <a:p>
                      <a:pPr>
                        <a:defRPr sz="1300" b="0">
                          <a:solidFill>
                            <a:srgbClr val="002060"/>
                          </a:solidFill>
                          <a:latin typeface="Bookman Old Style"/>
                        </a:defRPr>
                      </a:pPr>
                      <a:r>
                        <a:t>3 pipes</a:t>
                      </a:r>
                    </a:p>
                  </a:txBody>
                  <a:tcPr>
                    <a:solidFill>
                      <a:srgbClr val="F2F5FA"/>
                    </a:solidFill>
                  </a:tcPr>
                </a:tc>
                <a:tc>
                  <a:txBody>
                    <a:bodyPr/>
                    <a:lstStyle/>
                    <a:p>
                      <a:pPr>
                        <a:defRPr sz="1300" b="0">
                          <a:solidFill>
                            <a:srgbClr val="002060"/>
                          </a:solidFill>
                          <a:latin typeface="Bookman Old Style"/>
                        </a:defRPr>
                      </a:pPr>
                      <a:r>
                        <a:t>3 pipes</a:t>
                      </a:r>
                    </a:p>
                  </a:txBody>
                  <a:tcPr>
                    <a:solidFill>
                      <a:srgbClr val="F2F5FA"/>
                    </a:solidFill>
                  </a:tcPr>
                </a:tc>
                <a:tc>
                  <a:txBody>
                    <a:bodyPr/>
                    <a:lstStyle/>
                    <a:p>
                      <a:pPr>
                        <a:defRPr sz="1300" b="0">
                          <a:solidFill>
                            <a:srgbClr val="002060"/>
                          </a:solidFill>
                          <a:latin typeface="Bookman Old Style"/>
                        </a:defRPr>
                      </a:pPr>
                      <a:r>
                        <a:t>1 pipe</a:t>
                      </a:r>
                    </a:p>
                  </a:txBody>
                  <a:tcPr>
                    <a:solidFill>
                      <a:srgbClr val="F2F5FA"/>
                    </a:solidFill>
                  </a:tcPr>
                </a:tc>
              </a:tr>
              <a:tr h="457200">
                <a:tc>
                  <a:txBody>
                    <a:bodyPr/>
                    <a:lstStyle/>
                    <a:p>
                      <a:pPr>
                        <a:defRPr sz="1300" b="1">
                          <a:solidFill>
                            <a:srgbClr val="002060"/>
                          </a:solidFill>
                          <a:latin typeface="Bookman Old Style"/>
                        </a:defRPr>
                      </a:pPr>
                      <a:r>
                        <a:t>Same, with slower neurons (30 games)</a:t>
                      </a:r>
                    </a:p>
                  </a:txBody>
                  <a:tcPr>
                    <a:solidFill>
                      <a:srgbClr val="F2F5FA"/>
                    </a:solidFill>
                  </a:tcPr>
                </a:tc>
                <a:tc>
                  <a:txBody>
                    <a:bodyPr/>
                    <a:lstStyle/>
                    <a:p>
                      <a:pPr>
                        <a:defRPr sz="1300" b="0">
                          <a:solidFill>
                            <a:srgbClr val="002060"/>
                          </a:solidFill>
                          <a:latin typeface="Bookman Old Style"/>
                        </a:defRPr>
                      </a:pPr>
                      <a:r>
                        <a:t>6 pipes</a:t>
                      </a:r>
                    </a:p>
                  </a:txBody>
                  <a:tcPr>
                    <a:solidFill>
                      <a:srgbClr val="F2F5FA"/>
                    </a:solidFill>
                  </a:tcPr>
                </a:tc>
                <a:tc>
                  <a:txBody>
                    <a:bodyPr/>
                    <a:lstStyle/>
                    <a:p>
                      <a:pPr>
                        <a:defRPr sz="1300" b="0">
                          <a:solidFill>
                            <a:srgbClr val="002060"/>
                          </a:solidFill>
                          <a:latin typeface="Bookman Old Style"/>
                        </a:defRPr>
                      </a:pPr>
                      <a:r>
                        <a:t>11 pipes</a:t>
                      </a:r>
                    </a:p>
                  </a:txBody>
                  <a:tcPr>
                    <a:solidFill>
                      <a:srgbClr val="F2F5FA"/>
                    </a:solidFill>
                  </a:tcPr>
                </a:tc>
                <a:tc>
                  <a:txBody>
                    <a:bodyPr/>
                    <a:lstStyle/>
                    <a:p>
                      <a:pPr>
                        <a:defRPr sz="1300" b="0">
                          <a:solidFill>
                            <a:srgbClr val="002060"/>
                          </a:solidFill>
                          <a:latin typeface="Bookman Old Style"/>
                        </a:defRPr>
                      </a:pPr>
                      <a:r>
                        <a:t>about 1 pipe</a:t>
                      </a:r>
                    </a:p>
                  </a:txBody>
                  <a:tcPr>
                    <a:solidFill>
                      <a:srgbClr val="F2F5FA"/>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500" b="1"/>
              <a:t>Expected results:</a:t>
            </a:r>
            <a:endParaRPr sz="1500"/>
          </a:p>
          <a:p>
            <a:pPr marL="228600" lvl="0" indent="-50800" algn="l" rtl="0">
              <a:lnSpc>
                <a:spcPct val="90000"/>
              </a:lnSpc>
              <a:spcBef>
                <a:spcPts val="1000"/>
              </a:spcBef>
              <a:spcAft>
                <a:spcPts val="0"/>
              </a:spcAft>
              <a:buClr>
                <a:srgbClr val="002060"/>
              </a:buClr>
              <a:buSzPts val="2800"/>
              <a:buNone/>
            </a:pPr>
            <a:r>
              <a:rPr lang="en-IN" sz="1400"/>
              <a:t>A fragility atlas for four fly behaviours: how many targeted changes break each one, how many stimulated neurons repair it, which neurons keep appearing, and how redundant each circuit is.</a:t>
            </a:r>
            <a:endParaRPr sz="1400"/>
          </a:p>
          <a:p>
            <a:pPr marL="228600" lvl="0" indent="-50800" algn="l" rtl="0">
              <a:lnSpc>
                <a:spcPct val="90000"/>
              </a:lnSpc>
              <a:spcBef>
                <a:spcPts val="1000"/>
              </a:spcBef>
              <a:spcAft>
                <a:spcPts val="0"/>
              </a:spcAft>
              <a:buClr>
                <a:srgbClr val="002060"/>
              </a:buClr>
              <a:buSzPts val="2800"/>
              <a:buNone/>
            </a:pPr>
            <a:r>
              <a:rPr lang="en-IN" sz="1400"/>
              <a:t>An attacker and a defender agent, each in three versions (random, greedy, LLM with tools), with a benchmark table: intervention size and simulations used. This answers whether an LLM agent is actually better than a plain search.</a:t>
            </a:r>
            <a:endParaRPr sz="1400"/>
          </a:p>
          <a:p>
            <a:pPr marL="228600" lvl="0" indent="-50800" algn="l" rtl="0">
              <a:lnSpc>
                <a:spcPct val="90000"/>
              </a:lnSpc>
              <a:spcBef>
                <a:spcPts val="1000"/>
              </a:spcBef>
              <a:spcAft>
                <a:spcPts val="0"/>
              </a:spcAft>
              <a:buClr>
                <a:srgbClr val="002060"/>
              </a:buClr>
              <a:buSzPts val="2800"/>
              <a:buNone/>
            </a:pPr>
            <a:r>
              <a:rPr lang="en-IN" sz="1400"/>
              <a:t>Validation: the neurons our attacker finds compared with those named in the published papers (for feeding we can already check: the 3 command neurons).</a:t>
            </a:r>
            <a:endParaRPr sz="1400"/>
          </a:p>
          <a:p>
            <a:pPr marL="228600" lvl="0" indent="-50800" algn="l" rtl="0">
              <a:lnSpc>
                <a:spcPct val="90000"/>
              </a:lnSpc>
              <a:spcBef>
                <a:spcPts val="1000"/>
              </a:spcBef>
              <a:spcAft>
                <a:spcPts val="0"/>
              </a:spcAft>
              <a:buClr>
                <a:srgbClr val="002060"/>
              </a:buClr>
              <a:buSzPts val="2800"/>
              <a:buNone/>
            </a:pPr>
            <a:r>
              <a:rPr lang="en-IN" sz="1400"/>
              <a:t>The platform: whole-brain simulator matching Nature 2024, a 2-D virtual fly, one dashboard with Attack and Defend buttons.</a:t>
            </a:r>
            <a:endParaRPr sz="1400"/>
          </a:p>
          <a:p>
            <a:pPr marL="228600" lvl="0" indent="-228600" algn="l" rtl="0">
              <a:lnSpc>
                <a:spcPct val="90000"/>
              </a:lnSpc>
              <a:spcBef>
                <a:spcPts val="1000"/>
              </a:spcBef>
              <a:spcAft>
                <a:spcPts val="0"/>
              </a:spcAft>
              <a:buClr>
                <a:srgbClr val="002060"/>
              </a:buClr>
              <a:buSzPts val="2800"/>
              <a:buChar char="•"/>
            </a:pPr>
            <a:r>
              <a:rPr lang="en-IN" sz="1500" b="1"/>
              <a:t xml:space="preserve">Impact: </a:t>
            </a:r>
            <a:r>
              <a:rPr lang="en-IN" sz="1500"/>
              <a:t>a map of which brain circuits are protected and which are single points of failure; a first method for designing repair stimulation on a complete brain; testable predictions for fly labs; a testbed that transfers to the mouse and human maps being built now.</a:t>
            </a:r>
            <a:endParaRPr sz="1500"/>
          </a:p>
          <a:p>
            <a:pPr marL="228600" lvl="0" indent="-228600" algn="l" rtl="0">
              <a:lnSpc>
                <a:spcPct val="90000"/>
              </a:lnSpc>
              <a:spcBef>
                <a:spcPts val="1000"/>
              </a:spcBef>
              <a:spcAft>
                <a:spcPts val="0"/>
              </a:spcAft>
              <a:buClr>
                <a:srgbClr val="002060"/>
              </a:buClr>
              <a:buSzPts val="2800"/>
              <a:buChar char="•"/>
            </a:pPr>
            <a:r>
              <a:rPr lang="en-IN" sz="1500" b="1"/>
              <a:t xml:space="preserve">Future work: </a:t>
            </a:r>
            <a:r>
              <a:rPr lang="en-IN" sz="1500"/>
              <a:t>more behaviours, the male brain (released June 2026) for a male vs female fragility comparison, and running attacks on a neuromorphic chip.</a:t>
            </a:r>
            <a:endParaRPr sz="1500"/>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Phase 1: Foundation (Weeks 1 to 2, 17 Sep to 1 Oct)</a:t>
            </a:r>
            <a:endParaRPr sz="1600"/>
          </a:p>
          <a:p>
            <a:pPr marL="228600" lvl="0" indent="-50800" algn="l" rtl="0">
              <a:lnSpc>
                <a:spcPct val="90000"/>
              </a:lnSpc>
              <a:spcBef>
                <a:spcPts val="1000"/>
              </a:spcBef>
              <a:spcAft>
                <a:spcPts val="0"/>
              </a:spcAft>
              <a:buClr>
                <a:srgbClr val="002060"/>
              </a:buClr>
              <a:buSzPts val="2800"/>
              <a:buNone/>
            </a:pPr>
            <a:r>
              <a:rPr lang="en-IN" sz="1500"/>
              <a:t>Scope agreed with mentor; GitHub repo; simulator sped up (300 ms runs, sub-network mode, caching); neuron name table loaded.</a:t>
            </a:r>
            <a:endParaRPr sz="1500"/>
          </a:p>
          <a:p>
            <a:pPr marL="228600" lvl="0" indent="-228600" algn="l" rtl="0">
              <a:lnSpc>
                <a:spcPct val="90000"/>
              </a:lnSpc>
              <a:spcBef>
                <a:spcPts val="1000"/>
              </a:spcBef>
              <a:spcAft>
                <a:spcPts val="0"/>
              </a:spcAft>
              <a:buClr>
                <a:srgbClr val="002060"/>
              </a:buClr>
              <a:buSzPts val="2800"/>
              <a:buChar char="•"/>
            </a:pPr>
            <a:r>
              <a:rPr lang="en-IN" sz="1600" b="1"/>
              <a:t>Phase 2: Behaviours and rules (Weeks 3 to 5, 1 Oct to 22 Oct)</a:t>
            </a:r>
            <a:endParaRPr sz="1600"/>
          </a:p>
          <a:p>
            <a:pPr marL="228600" lvl="0" indent="-50800" algn="l" rtl="0">
              <a:lnSpc>
                <a:spcPct val="90000"/>
              </a:lnSpc>
              <a:spcBef>
                <a:spcPts val="1000"/>
              </a:spcBef>
              <a:spcAft>
                <a:spcPts val="0"/>
              </a:spcAft>
              <a:buClr>
                <a:srgbClr val="002060"/>
              </a:buClr>
              <a:buSzPts val="2800"/>
              <a:buNone/>
            </a:pPr>
            <a:r>
              <a:rPr lang="en-IN" sz="1500"/>
              <a:t>Reproduce eat, refuse bitter, groom, escape as pass or fail tests; write the attack rules; greedy attacker as the first baseline.</a:t>
            </a:r>
            <a:endParaRPr sz="1500"/>
          </a:p>
          <a:p>
            <a:pPr marL="228600" lvl="0" indent="-228600" algn="l" rtl="0">
              <a:lnSpc>
                <a:spcPct val="90000"/>
              </a:lnSpc>
              <a:spcBef>
                <a:spcPts val="1000"/>
              </a:spcBef>
              <a:spcAft>
                <a:spcPts val="0"/>
              </a:spcAft>
              <a:buClr>
                <a:srgbClr val="002060"/>
              </a:buClr>
              <a:buSzPts val="2800"/>
              <a:buChar char="•"/>
            </a:pPr>
            <a:r>
              <a:rPr lang="en-IN" sz="1600" b="1"/>
              <a:t>Phase 3: Attacker and defender agents (Weeks 6 to 9, 22 Oct to 19 Nov)</a:t>
            </a:r>
            <a:endParaRPr sz="1600"/>
          </a:p>
          <a:p>
            <a:pPr marL="228600" lvl="0" indent="-50800" algn="l" rtl="0">
              <a:lnSpc>
                <a:spcPct val="90000"/>
              </a:lnSpc>
              <a:spcBef>
                <a:spcPts val="1000"/>
              </a:spcBef>
              <a:spcAft>
                <a:spcPts val="0"/>
              </a:spcAft>
              <a:buClr>
                <a:srgbClr val="002060"/>
              </a:buClr>
              <a:buSzPts val="2800"/>
              <a:buNone/>
            </a:pPr>
            <a:r>
              <a:rPr lang="en-IN" sz="1500"/>
              <a:t>Simulator exposed as tools; LLM attacker with budget; defender with the two-condition repair test; random and greedy versions of both.</a:t>
            </a:r>
            <a:endParaRPr sz="1500"/>
          </a:p>
          <a:p>
            <a:pPr marL="228600" lvl="0" indent="-228600" algn="l" rtl="0">
              <a:lnSpc>
                <a:spcPct val="90000"/>
              </a:lnSpc>
              <a:spcBef>
                <a:spcPts val="1000"/>
              </a:spcBef>
              <a:spcAft>
                <a:spcPts val="0"/>
              </a:spcAft>
              <a:buClr>
                <a:srgbClr val="002060"/>
              </a:buClr>
              <a:buSzPts val="2800"/>
              <a:buChar char="•"/>
            </a:pPr>
            <a:r>
              <a:rPr lang="en-IN" sz="1600" b="1"/>
              <a:t>Phase 4: Atlas, virtual fly, dashboard (Weeks 8 to 11, 5 Nov to 3 Dec)</a:t>
            </a:r>
            <a:endParaRPr sz="1600"/>
          </a:p>
          <a:p>
            <a:pPr marL="228600" lvl="0" indent="-50800" algn="l" rtl="0">
              <a:lnSpc>
                <a:spcPct val="90000"/>
              </a:lnSpc>
              <a:spcBef>
                <a:spcPts val="1000"/>
              </a:spcBef>
              <a:spcAft>
                <a:spcPts val="0"/>
              </a:spcAft>
              <a:buClr>
                <a:srgbClr val="002060"/>
              </a:buClr>
              <a:buSzPts val="2800"/>
              <a:buNone/>
            </a:pPr>
            <a:r>
              <a:rPr lang="en-IN" sz="1500"/>
              <a:t>Batch runs over behaviours, goals, methods and seeds; fragility atlas and benchmark table; 2-D fly; web page with Attack and Defend.</a:t>
            </a:r>
            <a:endParaRPr sz="1500"/>
          </a:p>
          <a:p>
            <a:pPr marL="228600" lvl="0" indent="-228600" algn="l" rtl="0">
              <a:lnSpc>
                <a:spcPct val="90000"/>
              </a:lnSpc>
              <a:spcBef>
                <a:spcPts val="1000"/>
              </a:spcBef>
              <a:spcAft>
                <a:spcPts val="0"/>
              </a:spcAft>
              <a:buClr>
                <a:srgbClr val="002060"/>
              </a:buClr>
              <a:buSzPts val="2800"/>
              <a:buChar char="•"/>
            </a:pPr>
            <a:r>
              <a:rPr lang="en-IN" sz="1600" b="1"/>
              <a:t>Phase 5: Report and paper (Weeks 11 to 13, 3 Dec to 17 Dec)</a:t>
            </a:r>
            <a:endParaRPr sz="1600"/>
          </a:p>
          <a:p>
            <a:pPr marL="228600" lvl="0" indent="-50800" algn="l" rtl="0">
              <a:lnSpc>
                <a:spcPct val="90000"/>
              </a:lnSpc>
              <a:spcBef>
                <a:spcPts val="1000"/>
              </a:spcBef>
              <a:spcAft>
                <a:spcPts val="0"/>
              </a:spcAft>
              <a:buClr>
                <a:srgbClr val="002060"/>
              </a:buClr>
              <a:buSzPts val="2800"/>
              <a:buNone/>
            </a:pPr>
            <a:r>
              <a:rPr lang="en-IN" sz="1500"/>
              <a:t>Final demo, project report, open-source release, IEEE-format paper draft.</a:t>
            </a:r>
            <a:endParaRPr sz="1500"/>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800" b="1"/>
              <a:t xml:space="preserve">Summary: </a:t>
            </a:r>
            <a:r>
              <a:rPr lang="en-IN" sz="1800"/>
              <a:t>the complete fly brain runs on our laptop and we have already broken one behaviour by hand with 3 neurons. NeuroRedTeam turns that into a method: an attacker agent that finds the smallest change that breaks a behaviour, a defender agent that finds the smallest stimulation that repairs it, and a fragility atlas of the whole brain. Prior work perturbed the model by hand; as far as we found, no one has automated the attack, built the repair, or produced such an atlas.</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Final thought: </a:t>
            </a:r>
            <a:r>
              <a:rPr lang="en-IN" sz="1800"/>
              <a:t>this is where neuroscience, AI and security thinking meet. Treating a brain like a system under test is new, and every answer it gives is a prediction a real lab can check.</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Next steps: </a:t>
            </a:r>
            <a:r>
              <a:rPr lang="en-IN" sz="1800"/>
              <a:t>mentor approval; behaviours and rules in October; agents in November; atlas, dashboard and paper in December.</a:t>
            </a:r>
            <a:endParaRPr sz="1800"/>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rgbClr val="002060"/>
              </a:buClr>
              <a:buSzPts val="2800"/>
              <a:buNone/>
            </a:pPr>
            <a:r>
              <a:rPr lang="en-IN" sz="1100"/>
              <a:t>Dorkenwald, S., Matsliah, A., Sterling, A. R., Schlegel, P., Yu, S.-C., McKellar, C. E., et al. (2024). Neuronal wiring diagram of an adult brain. Nature, 634, 124-138. https://doi.org/10.1038/s41586-024-07558-y</a:t>
            </a:r>
            <a:endParaRPr sz="1100"/>
          </a:p>
          <a:p>
            <a:pPr marL="228600" lvl="0" indent="-50800" algn="l" rtl="0">
              <a:lnSpc>
                <a:spcPct val="90000"/>
              </a:lnSpc>
              <a:spcBef>
                <a:spcPts val="1000"/>
              </a:spcBef>
              <a:spcAft>
                <a:spcPts val="0"/>
              </a:spcAft>
              <a:buClr>
                <a:srgbClr val="002060"/>
              </a:buClr>
              <a:buSzPts val="2800"/>
              <a:buNone/>
            </a:pPr>
            <a:r>
              <a:rPr lang="en-IN" sz="1100"/>
              <a:t>Shiu, P. K., Sterne, G. R., Spiller, N., Blagburn, D. I., Mosca, T. J., et al. (2024). A Drosophila computational brain model reveals sensorimotor processing. Nature, 634, 210-219. https://doi.org/10.1038/s41586-024-07763-9</a:t>
            </a:r>
            <a:endParaRPr sz="1100"/>
          </a:p>
          <a:p>
            <a:pPr marL="228600" lvl="0" indent="-50800" algn="l" rtl="0">
              <a:lnSpc>
                <a:spcPct val="90000"/>
              </a:lnSpc>
              <a:spcBef>
                <a:spcPts val="1000"/>
              </a:spcBef>
              <a:spcAft>
                <a:spcPts val="0"/>
              </a:spcAft>
              <a:buClr>
                <a:srgbClr val="002060"/>
              </a:buClr>
              <a:buSzPts val="2800"/>
              <a:buNone/>
            </a:pPr>
            <a:r>
              <a:rPr lang="en-IN" sz="1100"/>
              <a:t>Pospisil, D. A., Aragon, M. J., Dorkenwald, S., et al. (2024). The fly connectome reveals a path to the effectome. Nature, 634, 201-209. https://doi.org/10.1038/s41586-024-07982-0</a:t>
            </a:r>
            <a:endParaRPr sz="1100"/>
          </a:p>
          <a:p>
            <a:pPr marL="228600" lvl="0" indent="-50800" algn="l" rtl="0">
              <a:lnSpc>
                <a:spcPct val="90000"/>
              </a:lnSpc>
              <a:spcBef>
                <a:spcPts val="1000"/>
              </a:spcBef>
              <a:spcAft>
                <a:spcPts val="0"/>
              </a:spcAft>
              <a:buClr>
                <a:srgbClr val="002060"/>
              </a:buClr>
              <a:buSzPts val="2800"/>
              <a:buNone/>
            </a:pPr>
            <a:r>
              <a:rPr lang="en-IN" sz="1100"/>
              <a:t>Schlegel, P., Yin, Y., Bates, A. S., et al. (2024). Whole-brain annotation and multi-connectome cell typing of Drosophila. Nature, 634, 139-152. https://doi.org/10.1038/s41586-024-07686-5</a:t>
            </a:r>
            <a:endParaRPr sz="1100"/>
          </a:p>
          <a:p>
            <a:pPr marL="228600" lvl="0" indent="-50800" algn="l" rtl="0">
              <a:lnSpc>
                <a:spcPct val="90000"/>
              </a:lnSpc>
              <a:spcBef>
                <a:spcPts val="1000"/>
              </a:spcBef>
              <a:spcAft>
                <a:spcPts val="0"/>
              </a:spcAft>
              <a:buClr>
                <a:srgbClr val="002060"/>
              </a:buClr>
              <a:buSzPts val="2800"/>
              <a:buNone/>
            </a:pPr>
            <a:r>
              <a:rPr lang="en-IN" sz="1100"/>
              <a:t>Lin, A., Yang, R., Dorkenwald, S., et al. (2024). Network statistics of the whole-brain connectome of Drosophila. Nature, 634, 153-165. https://doi.org/10.1038/s41586-024-07968-y</a:t>
            </a:r>
            <a:endParaRPr sz="1100"/>
          </a:p>
          <a:p>
            <a:pPr marL="228600" lvl="0" indent="-50800" algn="l" rtl="0">
              <a:lnSpc>
                <a:spcPct val="90000"/>
              </a:lnSpc>
              <a:spcBef>
                <a:spcPts val="1000"/>
              </a:spcBef>
              <a:spcAft>
                <a:spcPts val="0"/>
              </a:spcAft>
              <a:buClr>
                <a:srgbClr val="002060"/>
              </a:buClr>
              <a:buSzPts val="2800"/>
              <a:buNone/>
            </a:pPr>
            <a:r>
              <a:rPr lang="en-IN" sz="1100"/>
              <a:t>Yan, G., Vertes, P. E., Towlson, E. K., Chew, Y. L., Walker, D. S., Schafer, W. R., &amp; Barabasi, A.-L. (2017). Network control principles predict neuron function in the Caenorhabditis elegans connectome. Nature, 550, 519-523. https://doi.org/10.1038/nature24056</a:t>
            </a:r>
            <a:endParaRPr sz="1100"/>
          </a:p>
          <a:p>
            <a:pPr marL="228600" lvl="0" indent="-50800" algn="l" rtl="0">
              <a:lnSpc>
                <a:spcPct val="90000"/>
              </a:lnSpc>
              <a:spcBef>
                <a:spcPts val="1000"/>
              </a:spcBef>
              <a:spcAft>
                <a:spcPts val="0"/>
              </a:spcAft>
              <a:buClr>
                <a:srgbClr val="002060"/>
              </a:buClr>
              <a:buSzPts val="2800"/>
              <a:buNone/>
            </a:pPr>
            <a:r>
              <a:rPr lang="en-IN" sz="1100"/>
              <a:t>Whole-brain connectomics of Drosophila reveals a robust, distributed architecture for the suppression of feeding during escape. (2025). bioRxiv preprint. https://doi.org/10.64898/2025.12.14.694122</a:t>
            </a:r>
            <a:endParaRPr sz="1100"/>
          </a:p>
          <a:p>
            <a:pPr marL="228600" lvl="0" indent="-50800" algn="l" rtl="0">
              <a:lnSpc>
                <a:spcPct val="90000"/>
              </a:lnSpc>
              <a:spcBef>
                <a:spcPts val="1000"/>
              </a:spcBef>
              <a:spcAft>
                <a:spcPts val="0"/>
              </a:spcAft>
              <a:buClr>
                <a:srgbClr val="002060"/>
              </a:buClr>
              <a:buSzPts val="2800"/>
              <a:buNone/>
            </a:pPr>
            <a:r>
              <a:rPr lang="en-IN" sz="1100"/>
              <a:t>Bates, A. S., Phelps, J. S., Kim, M., Yang, H. H., et al. (2026). Distributed control circuits across a brain-and-cord connectome. Nature. https://doi.org/10.1038/s41586-026-10735-w</a:t>
            </a:r>
            <a:endParaRPr sz="110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 (1/2)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rgbClr val="002060"/>
              </a:buClr>
              <a:buSzPts val="2800"/>
              <a:buNone/>
            </a:pPr>
            <a:r>
              <a:rPr lang="en-IN" sz="1100"/>
              <a:t>Lappalainen, J. K., Tschopp, F. D., Prakhya, S., et al. (2024). Connectome-constrained networks predict neural activity across the fly visual system. Nature, 634, 1132-1140. https://doi.org/10.1038/s41586-024-07939-3</a:t>
            </a:r>
            <a:endParaRPr sz="1100"/>
          </a:p>
          <a:p>
            <a:pPr marL="228600" lvl="0" indent="-50800" algn="l" rtl="0">
              <a:lnSpc>
                <a:spcPct val="90000"/>
              </a:lnSpc>
              <a:spcBef>
                <a:spcPts val="1000"/>
              </a:spcBef>
              <a:spcAft>
                <a:spcPts val="0"/>
              </a:spcAft>
              <a:buClr>
                <a:srgbClr val="002060"/>
              </a:buClr>
              <a:buSzPts val="2800"/>
              <a:buNone/>
            </a:pPr>
            <a:r>
              <a:rPr lang="en-IN" sz="1100"/>
              <a:t>Vaxenburg, R., Siwanowicz, I., Merel, J., et al. (2025). Whole-body physics simulation of fruit fly locomotion. Nature, 643, 1312-1320. https://doi.org/10.1038/s41586-025-09029-4</a:t>
            </a:r>
            <a:endParaRPr sz="1100"/>
          </a:p>
          <a:p>
            <a:pPr marL="228600" lvl="0" indent="-50800" algn="l" rtl="0">
              <a:lnSpc>
                <a:spcPct val="90000"/>
              </a:lnSpc>
              <a:spcBef>
                <a:spcPts val="1000"/>
              </a:spcBef>
              <a:spcAft>
                <a:spcPts val="0"/>
              </a:spcAft>
              <a:buClr>
                <a:srgbClr val="002060"/>
              </a:buClr>
              <a:buSzPts val="2800"/>
              <a:buNone/>
            </a:pPr>
            <a:r>
              <a:rPr lang="en-IN" sz="1100"/>
              <a:t>Suarez, L. E., Mihalik, A., Milisav, F., Marshall, K., Li, M., Vertes, P. E., Lajoie, G., &amp; Misic, B. (2024). Connectome-based reservoir computing with the conn2res toolbox. Nature Communications, 15, 656. https://doi.org/10.1038/s41467-024-44900-4</a:t>
            </a:r>
            <a:endParaRPr sz="1100"/>
          </a:p>
          <a:p>
            <a:pPr marL="228600" lvl="0" indent="-50800" algn="l" rtl="0">
              <a:lnSpc>
                <a:spcPct val="90000"/>
              </a:lnSpc>
              <a:spcBef>
                <a:spcPts val="1000"/>
              </a:spcBef>
              <a:spcAft>
                <a:spcPts val="0"/>
              </a:spcAft>
              <a:buClr>
                <a:srgbClr val="002060"/>
              </a:buClr>
              <a:buSzPts val="2800"/>
              <a:buNone/>
            </a:pPr>
            <a:r>
              <a:rPr lang="en-IN" sz="1100"/>
              <a:t>Jin, Z., Zhu, Y., Zhang, C., &amp; Sui, Y. (2026). Whole-brain connectomic graph model enables whole-body locomotion control in fruit fly. arXiv:2602.17997.</a:t>
            </a:r>
            <a:endParaRPr sz="1100"/>
          </a:p>
          <a:p>
            <a:pPr marL="228600" lvl="0" indent="-50800" algn="l" rtl="0">
              <a:lnSpc>
                <a:spcPct val="90000"/>
              </a:lnSpc>
              <a:spcBef>
                <a:spcPts val="1000"/>
              </a:spcBef>
              <a:spcAft>
                <a:spcPts val="0"/>
              </a:spcAft>
              <a:buClr>
                <a:srgbClr val="002060"/>
              </a:buClr>
              <a:buSzPts val="2800"/>
              <a:buNone/>
            </a:pPr>
            <a:r>
              <a:rPr lang="en-IN" sz="1100"/>
              <a:t>Dhiman, N. (2026). Topological sensitivity in connectome-constrained neural networks. arXiv:2604.04033.</a:t>
            </a:r>
            <a:endParaRPr sz="1100"/>
          </a:p>
          <a:p>
            <a:pPr marL="228600" lvl="0" indent="-50800" algn="l" rtl="0">
              <a:lnSpc>
                <a:spcPct val="90000"/>
              </a:lnSpc>
              <a:spcBef>
                <a:spcPts val="1000"/>
              </a:spcBef>
              <a:spcAft>
                <a:spcPts val="0"/>
              </a:spcAft>
              <a:buClr>
                <a:srgbClr val="002060"/>
              </a:buClr>
              <a:buSzPts val="2800"/>
              <a:buNone/>
            </a:pPr>
            <a:r>
              <a:rPr lang="en-IN" sz="1100"/>
              <a:t>Neuromorphic simulation of Drosophila melanogaster brain connectome on Loihi 2. (2025). arXiv:2508.16792.</a:t>
            </a:r>
            <a:endParaRPr sz="1100"/>
          </a:p>
          <a:p>
            <a:pPr marL="228600" lvl="0" indent="-50800" algn="l" rtl="0">
              <a:lnSpc>
                <a:spcPct val="90000"/>
              </a:lnSpc>
              <a:spcBef>
                <a:spcPts val="1000"/>
              </a:spcBef>
              <a:spcAft>
                <a:spcPts val="0"/>
              </a:spcAft>
              <a:buClr>
                <a:srgbClr val="002060"/>
              </a:buClr>
              <a:buSzPts val="2800"/>
              <a:buNone/>
            </a:pPr>
            <a:r>
              <a:rPr lang="en-IN" sz="1100"/>
              <a:t>FlyEM Project Team (HHMI Janelia, University of Cambridge, MRC LMB, Google Research). (2026). Sexual dimorphism in the complete connectome of the Drosophila male central nervous system. Cell. https://www.cell.com/cell/fulltext/S0092-8674(26)00942-6</a:t>
            </a:r>
            <a:endParaRPr sz="1100"/>
          </a:p>
          <a:p>
            <a:pPr marL="228600" lvl="0" indent="-50800" algn="l" rtl="0">
              <a:lnSpc>
                <a:spcPct val="90000"/>
              </a:lnSpc>
              <a:spcBef>
                <a:spcPts val="1000"/>
              </a:spcBef>
              <a:spcAft>
                <a:spcPts val="0"/>
              </a:spcAft>
              <a:buClr>
                <a:srgbClr val="002060"/>
              </a:buClr>
              <a:buSzPts val="2800"/>
              <a:buNone/>
            </a:pPr>
            <a:r>
              <a:rPr lang="en-IN" sz="1100"/>
              <a:t>FlyWire Consortium. (2024). FlyWire Codex, release v783 [Dataset]. https://codex.flywire.ai</a:t>
            </a:r>
            <a:endParaRPr sz="1100"/>
          </a:p>
          <a:p>
            <a:pPr marL="228600" lvl="0" indent="-50800" algn="l" rtl="0">
              <a:lnSpc>
                <a:spcPct val="90000"/>
              </a:lnSpc>
              <a:spcBef>
                <a:spcPts val="1000"/>
              </a:spcBef>
              <a:spcAft>
                <a:spcPts val="0"/>
              </a:spcAft>
              <a:buClr>
                <a:srgbClr val="002060"/>
              </a:buClr>
              <a:buSzPts val="2800"/>
              <a:buNone/>
            </a:pPr>
            <a:r>
              <a:rPr lang="en-IN" sz="1100"/>
              <a:t>Shiu, P. K. (2024). Drosophila_brain_model [Source code]. GitHub. https://github.com/philshiu/Drosophila_brain_model</a:t>
            </a:r>
            <a:endParaRPr sz="110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 (2/2)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700" b="1"/>
              <a:t xml:space="preserve">Our target outcome: </a:t>
            </a:r>
            <a:r>
              <a:rPr lang="en-IN" sz="1700"/>
              <a:t>a conference publication plus an open-source release.</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Conference publication: </a:t>
            </a:r>
            <a:r>
              <a:rPr lang="en-IN" sz="1700"/>
              <a:t>an IEEE-format paper, "NeuroRedTeam: automated attack and repair testing of a whole-brain connectome model", reporting the fragility atlas and the agent benchmark. Target: IEEE conferences on computational intelligence or neural networks, or a computational neuroscience workshop.</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Open-source release: </a:t>
            </a:r>
            <a:r>
              <a:rPr lang="en-IN" sz="1700"/>
              <a:t>the simulator, the behaviour tests, the attack rules, both agents, the atlas and the dashboard on GitHub, so other students and labs can reproduce and extend it.</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Research proposal (stretch): </a:t>
            </a:r>
            <a:r>
              <a:rPr lang="en-IN" sz="1700"/>
              <a:t>extend the method to the male fly brain and to the mouse connectome, with a budget for a small GPU workstation.</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Patent: </a:t>
            </a:r>
            <a:r>
              <a:rPr lang="en-IN" sz="1700"/>
              <a:t>not planned. The value here is in open science and publication.</a:t>
            </a:r>
            <a:endParaRPr sz="1700"/>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Friday, 18 September 2026</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19</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20</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Widescreen</PresentationFormat>
  <Paragraphs>91</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BHARATH B L</cp:lastModifiedBy>
  <cp:revision>2</cp:revision>
  <dcterms:created xsi:type="dcterms:W3CDTF">2021-06-02T13:10:21Z</dcterms:created>
  <dcterms:modified xsi:type="dcterms:W3CDTF">2026-09-17T09:29:12Z</dcterms:modified>
</cp:coreProperties>
</file>
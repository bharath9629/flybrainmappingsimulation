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3" r:id="rId28"/>
    <p:sldId id="272" r:id="rId27"/>
    <p:sldId id="265" r:id="rId11"/>
    <p:sldId id="266" r:id="rId12"/>
    <p:sldId id="267" r:id="rId13"/>
    <p:sldId id="268" r:id="rId14"/>
    <p:sldId id="271" r:id="rId26"/>
    <p:sldId id="269" r:id="rId15"/>
    <p:sldId id="270" r:id="rId16"/>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notesMaster" Target="notesMasters/notesMaster1.xml"/><Relationship Id="rId21" Type="http://customschemas.google.com/relationships/presentationmetadata" Target="meta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16.xml"/><Relationship Id="rId27" Type="http://schemas.openxmlformats.org/officeDocument/2006/relationships/slide" Target="slides/slide11.xml"/><Relationship Id="rId2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400" b="1" dirty="0">
                <a:solidFill>
                  <a:srgbClr val="FF0000"/>
                </a:solidFill>
                <a:latin typeface="Bookman Old Style"/>
                <a:ea typeface="Bookman Old Style"/>
                <a:cs typeface="Bookman Old Style"/>
                <a:sym typeface="Bookman Old Style"/>
              </a:rPr>
              <a:t>Connectome Lab: Running a Real Fly Brain as a Neural Network,</a:t>
            </a:r>
            <a:endParaRPr dirty="0"/>
          </a:p>
          <a:p>
            <a:pPr marL="0" marR="0" lvl="0" indent="0" algn="ctr" rtl="0">
              <a:spcBef>
                <a:spcPts val="0"/>
              </a:spcBef>
              <a:spcAft>
                <a:spcPts val="0"/>
              </a:spcAft>
              <a:buNone/>
            </a:pPr>
            <a:r>
              <a:rPr lang="en-IN" sz="2000" b="1" dirty="0">
                <a:solidFill>
                  <a:srgbClr val="FFFFFF"/>
                </a:solidFill>
                <a:latin typeface="Bookman Old Style"/>
                <a:ea typeface="Bookman Old Style"/>
                <a:cs typeface="Bookman Old Style"/>
                <a:sym typeface="Bookman Old Style"/>
              </a:rPr>
              <a:t>with an AI Agent that Discovers How It Works</a:t>
            </a:r>
            <a:endParaRPr dirty="0"/>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000" b="1" dirty="0">
                <a:solidFill>
                  <a:srgbClr val="FF0000"/>
                </a:solidFill>
                <a:latin typeface="Bookman Old Style"/>
                <a:ea typeface="Bookman Old Style"/>
                <a:cs typeface="Bookman Old Style"/>
                <a:sym typeface="Bookman Old Style"/>
              </a:rPr>
              <a:t>Theme: Artificial Intelligence, Neural Networks &amp; Computational Neuroscience</a:t>
            </a:r>
            <a:endParaRPr dirty="0">
              <a:solidFill>
                <a:srgbClr val="FF0000"/>
              </a:solidFill>
            </a:endParaRPr>
          </a:p>
          <a:p>
            <a:pPr marL="0" marR="0" lvl="0" indent="0" algn="ctr" rtl="0">
              <a:spcBef>
                <a:spcPts val="0"/>
              </a:spcBef>
              <a:spcAft>
                <a:spcPts val="0"/>
              </a:spcAft>
              <a:buNone/>
            </a:pPr>
            <a:r>
              <a:rPr lang="en-IN" sz="1800" b="1" dirty="0">
                <a:solidFill>
                  <a:srgbClr val="FFFFFF"/>
                </a:solidFill>
                <a:latin typeface="Bookman Old Style"/>
                <a:ea typeface="Bookman Old Style"/>
                <a:cs typeface="Bookman Old Style"/>
                <a:sym typeface="Bookman Old Style"/>
              </a:rPr>
              <a:t>Team: Govind  |  Bharath  |  Dhanush A  |  Shreenidhi Chalmi</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6" name="Google Shape;136;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3" name="Text Placeholder 2">
            <a:extLst>
              <a:ext uri="{FF2B5EF4-FFF2-40B4-BE49-F238E27FC236}">
                <a16:creationId xmlns:a16="http://schemas.microsoft.com/office/drawing/2014/main" id="{8F120F54-8A74-8F01-C238-9E7D324C3DE6}"/>
              </a:ext>
            </a:extLst>
          </p:cNvPr>
          <p:cNvSpPr>
            <a:spLocks noGrp="1"/>
          </p:cNvSpPr>
          <p:nvPr>
            <p:ph type="body" idx="1"/>
          </p:nvPr>
        </p:nvSpPr>
        <p:spPr/>
        <p:txBody>
          <a:bodyPr/>
          <a:lstStyle/>
          <a:p>
            <a:r>
              <a:rPr lang="en-IN" dirty="0"/>
              <a:t>Experiential Learning – outline of tentative steps / methodology adopted (or to be adopted)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800" b="1"/>
              <a:t xml:space="preserve">What it is about: </a:t>
            </a:r>
            <a:r>
              <a:rPr lang="en-IN" sz="1800"/>
              <a:t>In October 2024 the FlyWire project published every neuron and every connection in an adult fruit fly's brain — 139,255 neurons, 15 million connections — and released it free. In June 2026 two more maps followed (female brain + nerve cord, and the complete male nervous system). These are the first complete "wiring diagrams" of any animal that can walk, fly and learn.</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What we do with it: </a:t>
            </a:r>
            <a:r>
              <a:rPr lang="en-IN" sz="1800"/>
              <a:t>We run this real brain on a normal laptop as a neural network, connect it to a virtual fly so you can watch behaviour happen, and use it in two new ways: (1) as a neural-network architecture designed by evolution, and (2) as a lab where an AI agent runs its own experiments to find which neurons control which behaviour.</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Why it matters: </a:t>
            </a:r>
            <a:r>
              <a:rPr lang="en-IN" sz="1800"/>
              <a:t>A fly brain does vision, flight and navigation on ~1 milliwatt; a GPU doing similar work needs hundreds of watts. Flies share ~75% of human disease genes and are standard models for Parkinson's, Alzheimer's and epilepsy. Understanding how evolved wiring computes could give us cheaper AI and faster neuroscience.</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Already working: </a:t>
            </a:r>
            <a:r>
              <a:rPr lang="en-IN" sz="1800"/>
              <a:t>we loaded the real data and reproduced the headline result of Shiu et al. (Nature, Oct 2024) on a laptop — sugar on the tongue makes the feeding neuron fire (95–98 Hz every run); random input gives 0 Hz. Results and animation on slides 10–11.</a:t>
            </a:r>
            <a:endParaRPr sz="18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500" b="1"/>
              <a:t>Key studies:</a:t>
            </a:r>
            <a:endParaRPr sz="1500"/>
          </a:p>
          <a:p>
            <a:pPr marL="685800" lvl="1" indent="-228600" algn="l" rtl="0">
              <a:lnSpc>
                <a:spcPct val="90000"/>
              </a:lnSpc>
              <a:spcBef>
                <a:spcPts val="500"/>
              </a:spcBef>
              <a:spcAft>
                <a:spcPts val="0"/>
              </a:spcAft>
              <a:buClr>
                <a:schemeClr val="dk1"/>
              </a:buClr>
              <a:buSzPct val="100000"/>
              <a:buChar char="•"/>
            </a:pPr>
            <a:r>
              <a:rPr lang="en-IN" sz="1400" b="1"/>
              <a:t xml:space="preserve">Dorkenwald et al. (2024, Nature) – </a:t>
            </a:r>
            <a:r>
              <a:rPr lang="en-IN" sz="1400"/>
              <a:t>the complete adult fly brain connectome (FlyWire): 139,255 neurons, 50 M synapses, with predicted transmitter for every connection.</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Shiu et al. (2024, Nature) – </a:t>
            </a:r>
            <a:r>
              <a:rPr lang="en-IN" sz="1400"/>
              <a:t>simulated the whole connectome with simple spiking neurons on a laptop; correctly predicted feeding, grooming and other behaviours, later confirmed in real flies.</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Lappalainen et al. (2024, Nature) – </a:t>
            </a:r>
            <a:r>
              <a:rPr lang="en-IN" sz="1400"/>
              <a:t>trained the fly visual-system wiring as a deep network in PyTorch; it predicted real neuron responses.</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Vaxenburg et al. (2025, Nature) – </a:t>
            </a:r>
            <a:r>
              <a:rPr lang="en-IN" sz="1400"/>
              <a:t>a physics-simulated fly body (MuJoCo) that neural controllers can drive — the basis for virtual-fly work.</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Costi et al. (2025, Biomimetics, ESA) – </a:t>
            </a:r>
            <a:r>
              <a:rPr lang="en-IN" sz="1400"/>
              <a:t>fly wiring as a reservoir computer; overfits far less than random networks of the same size.</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Jin et al. (2026, arXiv, FlyGM) – </a:t>
            </a:r>
            <a:r>
              <a:rPr lang="en-IN" sz="1400"/>
              <a:t>connectome as a graph neural network for reinforcement learning; beat standard MLP and GNN controllers.</a:t>
            </a:r>
            <a:endParaRPr sz="1400"/>
          </a:p>
          <a:p>
            <a:pPr marL="685800" lvl="1" indent="-228600" algn="l" rtl="0">
              <a:lnSpc>
                <a:spcPct val="90000"/>
              </a:lnSpc>
              <a:spcBef>
                <a:spcPts val="500"/>
              </a:spcBef>
              <a:spcAft>
                <a:spcPts val="0"/>
              </a:spcAft>
              <a:buClr>
                <a:schemeClr val="dk1"/>
              </a:buClr>
              <a:buSzPct val="100000"/>
              <a:buChar char="•"/>
            </a:pPr>
            <a:r>
              <a:rPr lang="en-IN" sz="1400" b="1"/>
              <a:t xml:space="preserve">Bates et al. (2026, Nature) &amp; MaleCNS (2026, Cell) – </a:t>
            </a:r>
            <a:r>
              <a:rPr lang="en-IN" sz="1400"/>
              <a:t>complete brain + nerve-cord connectomes, female and male; motor control turns out to be distributed in local loops.</a:t>
            </a:r>
            <a:endParaRPr sz="1400"/>
          </a:p>
          <a:p>
            <a:pPr marL="228600" lvl="0" indent="-228600" algn="l" rtl="0">
              <a:lnSpc>
                <a:spcPct val="90000"/>
              </a:lnSpc>
              <a:spcBef>
                <a:spcPts val="1000"/>
              </a:spcBef>
              <a:spcAft>
                <a:spcPts val="0"/>
              </a:spcAft>
              <a:buClr>
                <a:srgbClr val="002060"/>
              </a:buClr>
              <a:buSzPts val="2800"/>
              <a:buChar char="•"/>
            </a:pPr>
            <a:r>
              <a:rPr lang="en-IN" sz="1500" b="1"/>
              <a:t xml:space="preserve">Trend: </a:t>
            </a:r>
            <a:r>
              <a:rPr lang="en-IN" sz="1500"/>
              <a:t>mapping (2020–24) → simulating (2024) → whole-body and male/female maps (2025–26) → using the wiring as an AI architecture (2025–26).</a:t>
            </a:r>
            <a:endParaRPr sz="1500"/>
          </a:p>
          <a:p>
            <a:pPr marL="228600" lvl="0" indent="-228600" algn="l" rtl="0">
              <a:lnSpc>
                <a:spcPct val="90000"/>
              </a:lnSpc>
              <a:spcBef>
                <a:spcPts val="1000"/>
              </a:spcBef>
              <a:spcAft>
                <a:spcPts val="0"/>
              </a:spcAft>
              <a:buClr>
                <a:srgbClr val="002060"/>
              </a:buClr>
              <a:buSzPts val="2800"/>
              <a:buChar char="•"/>
            </a:pPr>
            <a:r>
              <a:rPr lang="en-IN" sz="1500" b="1"/>
              <a:t xml:space="preserve">Framework: </a:t>
            </a:r>
            <a:r>
              <a:rPr lang="en-IN" sz="1500"/>
              <a:t>spiking neural networks, graph theory, reservoir computing, connectome-constrained deep learning, LLM tool-using agents.</a:t>
            </a:r>
            <a:endParaRPr sz="1500"/>
          </a:p>
          <a:p>
            <a:pPr marL="228600" lvl="0" indent="-228600" algn="l" rtl="0">
              <a:lnSpc>
                <a:spcPct val="90000"/>
              </a:lnSpc>
              <a:spcBef>
                <a:spcPts val="1000"/>
              </a:spcBef>
              <a:spcAft>
                <a:spcPts val="0"/>
              </a:spcAft>
              <a:buClr>
                <a:srgbClr val="002060"/>
              </a:buClr>
              <a:buSzPts val="2800"/>
              <a:buChar char="•"/>
            </a:pPr>
            <a:r>
              <a:rPr lang="en-IN" sz="1500" b="1"/>
              <a:t xml:space="preserve">Gap: </a:t>
            </a:r>
            <a:r>
              <a:rPr lang="en-IN" sz="1500"/>
              <a:t>no systematic test of evolved vs random/engineered wiring across many tasks; no autonomous AI experimentation on a connectome.</a:t>
            </a:r>
            <a:endParaRPr sz="1500"/>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700" b="1"/>
              <a:t xml:space="preserve">The problem: </a:t>
            </a:r>
            <a:r>
              <a:rPr lang="en-IN" sz="1700"/>
              <a:t>We now have the complete wiring of a brain, but wiring is not understanding. Finding out which neurons cause which behaviour still needs an expert to guess, stimulate, cut and repeat for months. And nobody knows whether a brain's evolved wiring is a better neural-network design than what humans build by hand.</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Context: </a:t>
            </a:r>
            <a:r>
              <a:rPr lang="en-IN" sz="1700"/>
              <a:t>The fly connectome was released in Oct 2024; brain + nerve cord and male versions in June 2026. Simulation code exists but is used by a handful of expert labs. Meanwhile AI data centres consume enormous power while a fly brain does complex tasks on almost none. The two fields have not been properly connected.</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Why it must be addressed: </a:t>
            </a:r>
            <a:r>
              <a:rPr lang="en-IN" sz="1700"/>
              <a:t>Without tools that turn structure into function automatically, the connectome stays a map few can read — and the mouse and human connectomes now in progress will hit the same bottleneck. Without a fair benchmark, AI research cannot tell whether biological wiring holds design lessons worth copying.</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Problem statement: </a:t>
            </a:r>
            <a:r>
              <a:rPr lang="en-IN" sz="1700"/>
              <a:t>Build a laptop-scale platform that runs the fruit-fly connectome as a neural network coupled to a virtual fly, lets an AI agent autonomously design and run stimulation/lesion experiments to identify behavioural circuits, and benchmarks the biological wiring against random and engineered networks on machine-learning tasks.</a:t>
            </a:r>
            <a:endParaRPr sz="1700"/>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 xml:space="preserve">Main objective: </a:t>
            </a:r>
            <a:r>
              <a:rPr lang="en-IN" sz="1600"/>
              <a:t>Turn the complete fruit-fly brain wiring into a runnable, trainable neural network on a laptop; use it to drive a virtual fly, to discover brain circuits automatically, and to test whether evolved wiring is a better AI architecture.</a:t>
            </a:r>
            <a:endParaRPr sz="1600"/>
          </a:p>
          <a:p>
            <a:pPr marL="228600" lvl="0" indent="-228600" algn="l" rtl="0">
              <a:lnSpc>
                <a:spcPct val="90000"/>
              </a:lnSpc>
              <a:spcBef>
                <a:spcPts val="1000"/>
              </a:spcBef>
              <a:spcAft>
                <a:spcPts val="0"/>
              </a:spcAft>
              <a:buClr>
                <a:srgbClr val="002060"/>
              </a:buClr>
              <a:buSzPts val="2800"/>
              <a:buChar char="•"/>
            </a:pPr>
            <a:r>
              <a:rPr lang="en-IN" sz="1600" b="1"/>
              <a:t>Specific objectives:</a:t>
            </a:r>
            <a:endParaRPr sz="1600"/>
          </a:p>
          <a:p>
            <a:pPr marL="685800" lvl="1" indent="-228600" algn="l" rtl="0">
              <a:lnSpc>
                <a:spcPct val="90000"/>
              </a:lnSpc>
              <a:spcBef>
                <a:spcPts val="500"/>
              </a:spcBef>
              <a:spcAft>
                <a:spcPts val="0"/>
              </a:spcAft>
              <a:buClr>
                <a:schemeClr val="dk1"/>
              </a:buClr>
              <a:buSzPct val="100000"/>
              <a:buChar char="•"/>
            </a:pPr>
            <a:r>
              <a:rPr lang="en-IN" sz="1500" b="1"/>
              <a:t xml:space="preserve">Brain engine: </a:t>
            </a:r>
            <a:r>
              <a:rPr lang="en-IN" sz="1500"/>
              <a:t>fast simulator of all 139,255 neurons with stimulate / record / cut; reproduce feeding, bitter-suppression and grooming from the 2024 Nature paper.</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Brain atlas: </a:t>
            </a:r>
            <a:r>
              <a:rPr lang="en-IN" sz="1500"/>
              <a:t>cell-type labels (sugar, bitter, touch, vision, motor) and graph queries such as "shortest path from eye to legs".</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Virtual fly (2-D): </a:t>
            </a:r>
            <a:r>
              <a:rPr lang="en-IN" sz="1500"/>
              <a:t>a fly in an on-screen arena driven by the brain's motor neurons — walks toward food, jumps from threats, grooms when touched; cut neurons live and watch behaviour break.</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AI scientist: </a:t>
            </a:r>
            <a:r>
              <a:rPr lang="en-IN" sz="1500"/>
              <a:t>an LLM with these tools plans, runs and interprets its own experiments and writes a report; validated by rediscovering known circuits.</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Neural-network benchmark: </a:t>
            </a:r>
            <a:r>
              <a:rPr lang="en-IN" sz="1500"/>
              <a:t>the wiring as a PyTorch model (frozen and trainable) vs random, small-world and MLP networks on 3–5 tasks, with a "how much fly is left" shuffle curve.</a:t>
            </a:r>
            <a:endParaRPr sz="1500"/>
          </a:p>
          <a:p>
            <a:pPr marL="685800" lvl="1" indent="-228600" algn="l" rtl="0">
              <a:lnSpc>
                <a:spcPct val="90000"/>
              </a:lnSpc>
              <a:spcBef>
                <a:spcPts val="500"/>
              </a:spcBef>
              <a:spcAft>
                <a:spcPts val="0"/>
              </a:spcAft>
              <a:buClr>
                <a:schemeClr val="dk1"/>
              </a:buClr>
              <a:buSzPct val="100000"/>
              <a:buChar char="•"/>
            </a:pPr>
            <a:r>
              <a:rPr lang="en-IN" sz="1500" b="1"/>
              <a:t xml:space="preserve">Dashboard: </a:t>
            </a:r>
            <a:r>
              <a:rPr lang="en-IN" sz="1500"/>
              <a:t>a browser page where anyone can press "sugar", watch neurons light up, cut neurons, and chat with the AI scientist.</a:t>
            </a:r>
            <a:endParaRPr sz="1500"/>
          </a:p>
          <a:p>
            <a:pPr marL="228600" lvl="0" indent="-228600" algn="l" rtl="0">
              <a:lnSpc>
                <a:spcPct val="90000"/>
              </a:lnSpc>
              <a:spcBef>
                <a:spcPts val="1000"/>
              </a:spcBef>
              <a:spcAft>
                <a:spcPts val="0"/>
              </a:spcAft>
              <a:buClr>
                <a:srgbClr val="002060"/>
              </a:buClr>
              <a:buSzPts val="2800"/>
              <a:buChar char="•"/>
            </a:pPr>
            <a:r>
              <a:rPr lang="en-IN" sz="1600" b="1"/>
              <a:t xml:space="preserve">Contribution: </a:t>
            </a:r>
            <a:r>
              <a:rPr lang="en-IN" sz="1600"/>
              <a:t>first autonomous-agent experimentation on a connectome; first systematic evolved-vs-random benchmark; an open tool usable without expert knowledge.</a:t>
            </a:r>
            <a:endParaRPr sz="1600"/>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 xml:space="preserve">Design: </a:t>
            </a:r>
            <a:r>
              <a:rPr lang="en-IN" sz="1600"/>
              <a:t>quantitative and experimental — build the system, run controlled simulation experiments, compare with published lab data and with baseline networks.</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Data: </a:t>
            </a:r>
            <a:r>
              <a:rPr lang="en-IN" sz="1600"/>
              <a:t>public FlyWire v783 connectome (neurons, synapse counts, excitatory/inhibitory sign, cell-type annotations) from codex.flywire.ai. No data collection from people or animals — everything is simulation.</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Analysis: </a:t>
            </a:r>
            <a:r>
              <a:rPr lang="en-IN" sz="1600"/>
              <a:t>firing rates over 30 repeated trials; comparison with the Nature 2024 model; graph statistics (paths, hubs, communities); ML metrics (accuracy, data-efficiency, overfitting) with confidence intervals across seeds; behaviour metrics for the virtual fly (time to reach food, escape success).</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Tools: </a:t>
            </a:r>
            <a:r>
              <a:rPr lang="en-IN" sz="1600"/>
              <a:t>Python, NumPy/SciPy (sparse matrices), Pandas, NetworkX, PyTorch, Pygame/Canvas for the 2-D fly, Claude/OpenAI API for the agent, FastAPI + web front-end, GitHub. Runs on a laptop; free Colab GPU for the benchmark phase.</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Team roles: </a:t>
            </a:r>
            <a:r>
              <a:rPr lang="en-IN" sz="1600"/>
              <a:t>Brain engine &amp; virtual fly (Govind) · Brain atlas &amp; graph queries (Bharath) · AI scientist agent (Dhanush) · Neural-network benchmark &amp; dashboard (Shreenidhi). One module each, all meeting in the dashboard.</a:t>
            </a:r>
            <a:endParaRPr sz="1600"/>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rgbClr val="002060"/>
              </a:buClr>
              <a:buSzPts val="2800"/>
              <a:buNone/>
            </a:pPr>
            <a:r>
              <a:rPr lang="en-IN" sz="1000"/>
              <a:t/>
            </a:r>
            <a:endParaRPr sz="1000"/>
          </a:p>
        </p:txBody>
      </p:sp>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
        <p:nvSpPr>
          <p:cNvPr id="194" name="Rounded Rectangle 193"/>
          <p:cNvSpPr/>
          <p:nvPr/>
        </p:nvSpPr>
        <p:spPr>
          <a:xfrm>
            <a:off x="502920" y="141732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1. Load the brain</a:t>
            </a:r>
          </a:p>
          <a:p>
            <a:pPr algn="ctr"/>
            <a:r>
              <a:rPr sz="1100">
                <a:solidFill>
                  <a:srgbClr val="FFFFFF"/>
                </a:solidFill>
                <a:latin typeface="Bookman Old Style"/>
              </a:rPr>
              <a:t>FlyWire data: 139,255 neurons,
15 M connections   ✔ done</a:t>
            </a:r>
          </a:p>
        </p:txBody>
      </p:sp>
      <p:cxnSp>
        <p:nvCxnSpPr>
          <p:cNvPr id="195" name="Connector 194"/>
          <p:cNvCxnSpPr/>
          <p:nvPr/>
        </p:nvCxnSpPr>
        <p:spPr>
          <a:xfrm>
            <a:off x="3017520" y="19888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6" name="Rounded Rectangle 195"/>
          <p:cNvSpPr/>
          <p:nvPr/>
        </p:nvSpPr>
        <p:spPr>
          <a:xfrm>
            <a:off x="3401568" y="141732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2. Build simulator</a:t>
            </a:r>
          </a:p>
          <a:p>
            <a:pPr algn="ctr"/>
            <a:r>
              <a:rPr sz="1100">
                <a:solidFill>
                  <a:srgbClr val="FFFFFF"/>
                </a:solidFill>
                <a:latin typeface="Bookman Old Style"/>
              </a:rPr>
              <a:t>spiking neurons in NumPy;
stimulate / record / cut   ✔ done</a:t>
            </a:r>
          </a:p>
        </p:txBody>
      </p:sp>
      <p:cxnSp>
        <p:nvCxnSpPr>
          <p:cNvPr id="197" name="Connector 196"/>
          <p:cNvCxnSpPr/>
          <p:nvPr/>
        </p:nvCxnSpPr>
        <p:spPr>
          <a:xfrm>
            <a:off x="5916168" y="19888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8" name="Rounded Rectangle 197"/>
          <p:cNvSpPr/>
          <p:nvPr/>
        </p:nvSpPr>
        <p:spPr>
          <a:xfrm>
            <a:off x="6300216" y="141732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3. Validate</a:t>
            </a:r>
          </a:p>
          <a:p>
            <a:pPr algn="ctr"/>
            <a:r>
              <a:rPr sz="1100">
                <a:solidFill>
                  <a:srgbClr val="FFFFFF"/>
                </a:solidFill>
                <a:latin typeface="Bookman Old Style"/>
              </a:rPr>
              <a:t>reproduce feeding (✔ done),
bitter, grooming vs Nature 2024</a:t>
            </a:r>
          </a:p>
        </p:txBody>
      </p:sp>
      <p:cxnSp>
        <p:nvCxnSpPr>
          <p:cNvPr id="199" name="Connector 198"/>
          <p:cNvCxnSpPr/>
          <p:nvPr/>
        </p:nvCxnSpPr>
        <p:spPr>
          <a:xfrm>
            <a:off x="8814816" y="1988819"/>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0" name="Rounded Rectangle 199"/>
          <p:cNvSpPr/>
          <p:nvPr/>
        </p:nvSpPr>
        <p:spPr>
          <a:xfrm>
            <a:off x="9198864" y="141732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4. Brain atlas</a:t>
            </a:r>
          </a:p>
          <a:p>
            <a:pPr algn="ctr"/>
            <a:r>
              <a:rPr sz="1100">
                <a:solidFill>
                  <a:srgbClr val="FFFFFF"/>
                </a:solidFill>
                <a:latin typeface="Bookman Old Style"/>
              </a:rPr>
              <a:t>cell-type labels + graph
queries (paths, hubs)</a:t>
            </a:r>
          </a:p>
        </p:txBody>
      </p:sp>
      <p:sp>
        <p:nvSpPr>
          <p:cNvPr id="201" name="Rounded Rectangle 200"/>
          <p:cNvSpPr/>
          <p:nvPr/>
        </p:nvSpPr>
        <p:spPr>
          <a:xfrm>
            <a:off x="502920" y="379476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5. Virtual fly</a:t>
            </a:r>
          </a:p>
          <a:p>
            <a:pPr algn="ctr"/>
            <a:r>
              <a:rPr sz="1100">
                <a:solidFill>
                  <a:srgbClr val="FFFFFF"/>
                </a:solidFill>
                <a:latin typeface="Bookman Old Style"/>
              </a:rPr>
              <a:t>2-D fly driven by motor
neurons: walk, escape, groom</a:t>
            </a:r>
          </a:p>
        </p:txBody>
      </p:sp>
      <p:cxnSp>
        <p:nvCxnSpPr>
          <p:cNvPr id="202" name="Connector 201"/>
          <p:cNvCxnSpPr/>
          <p:nvPr/>
        </p:nvCxnSpPr>
        <p:spPr>
          <a:xfrm>
            <a:off x="3017520" y="4366260"/>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3" name="Rounded Rectangle 202"/>
          <p:cNvSpPr/>
          <p:nvPr/>
        </p:nvSpPr>
        <p:spPr>
          <a:xfrm>
            <a:off x="3401568" y="3794760"/>
            <a:ext cx="2514600" cy="1143000"/>
          </a:xfrm>
          <a:prstGeom prst="roundRect">
            <a:avLst/>
          </a:prstGeom>
          <a:solidFill>
            <a:srgbClr val="C0000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6. AI scientist</a:t>
            </a:r>
          </a:p>
          <a:p>
            <a:pPr algn="ctr"/>
            <a:r>
              <a:rPr sz="1100">
                <a:solidFill>
                  <a:srgbClr val="FFFFFF"/>
                </a:solidFill>
                <a:latin typeface="Bookman Old Style"/>
              </a:rPr>
              <a:t>LLM with tools plans and runs
its own experiments</a:t>
            </a:r>
          </a:p>
        </p:txBody>
      </p:sp>
      <p:cxnSp>
        <p:nvCxnSpPr>
          <p:cNvPr id="204" name="Connector 203"/>
          <p:cNvCxnSpPr/>
          <p:nvPr/>
        </p:nvCxnSpPr>
        <p:spPr>
          <a:xfrm>
            <a:off x="5916168" y="4366260"/>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5" name="Rounded Rectangle 204"/>
          <p:cNvSpPr/>
          <p:nvPr/>
        </p:nvSpPr>
        <p:spPr>
          <a:xfrm>
            <a:off x="6300216" y="379476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7. NN benchmark</a:t>
            </a:r>
          </a:p>
          <a:p>
            <a:pPr algn="ctr"/>
            <a:r>
              <a:rPr sz="1100">
                <a:solidFill>
                  <a:srgbClr val="FFFFFF"/>
                </a:solidFill>
                <a:latin typeface="Bookman Old Style"/>
              </a:rPr>
              <a:t>fly wiring vs random / MLP
on learning tasks (PyTorch)</a:t>
            </a:r>
          </a:p>
        </p:txBody>
      </p:sp>
      <p:cxnSp>
        <p:nvCxnSpPr>
          <p:cNvPr id="206" name="Connector 205"/>
          <p:cNvCxnSpPr/>
          <p:nvPr/>
        </p:nvCxnSpPr>
        <p:spPr>
          <a:xfrm>
            <a:off x="8814816" y="4366260"/>
            <a:ext cx="384048" cy="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7" name="Rounded Rectangle 206"/>
          <p:cNvSpPr/>
          <p:nvPr/>
        </p:nvSpPr>
        <p:spPr>
          <a:xfrm>
            <a:off x="9198864" y="3794760"/>
            <a:ext cx="2514600" cy="1143000"/>
          </a:xfrm>
          <a:prstGeom prst="roundRect">
            <a:avLst/>
          </a:prstGeom>
          <a:solidFill>
            <a:srgbClr val="002060"/>
          </a:solidFill>
          <a:ln w="15875">
            <a:solidFill>
              <a:srgbClr val="42719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FFFFFF"/>
                </a:solidFill>
                <a:latin typeface="Bookman Old Style"/>
              </a:rPr>
              <a:t>8. Dashboard + paper</a:t>
            </a:r>
          </a:p>
          <a:p>
            <a:pPr algn="ctr"/>
            <a:r>
              <a:rPr sz="1100">
                <a:solidFill>
                  <a:srgbClr val="FFFFFF"/>
                </a:solidFill>
                <a:latin typeface="Bookman Old Style"/>
              </a:rPr>
              <a:t>web demo, report,
conference submission</a:t>
            </a:r>
          </a:p>
        </p:txBody>
      </p:sp>
      <p:cxnSp>
        <p:nvCxnSpPr>
          <p:cNvPr id="208" name="Connector 207"/>
          <p:cNvCxnSpPr/>
          <p:nvPr/>
        </p:nvCxnSpPr>
        <p:spPr>
          <a:xfrm>
            <a:off x="10456164" y="2560320"/>
            <a:ext cx="0" cy="61722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H="1">
            <a:off x="1760220" y="3177540"/>
            <a:ext cx="8695944"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760220" y="3177540"/>
            <a:ext cx="0" cy="61722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502920" y="5166360"/>
            <a:ext cx="11155680" cy="822960"/>
          </a:xfrm>
          <a:prstGeom prst="rect">
            <a:avLst/>
          </a:prstGeom>
          <a:noFill/>
        </p:spPr>
        <p:txBody>
          <a:bodyPr wrap="square">
            <a:spAutoFit/>
          </a:bodyPr>
          <a:lstStyle/>
          <a:p>
            <a:pPr algn="ctr"/>
            <a:r>
              <a:rPr sz="1400" b="0">
                <a:solidFill>
                  <a:srgbClr val="002060"/>
                </a:solidFill>
                <a:latin typeface="Bookman Old Style"/>
              </a:rPr>
              <a:t>Steps 1–2 and the first validation are done (Sept 2026). Each later step is owned by one team member and plugs into the dashboard. Every experiment is repeated over 30 trials and compared with published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4434840"/>
            <a:ext cx="11842377" cy="173736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500" b="1"/>
              <a:t xml:space="preserve">What this proves: </a:t>
            </a:r>
            <a:r>
              <a:rPr lang="en-IN" sz="1500"/>
              <a:t>the real 139,255-neuron brain runs on a normal laptop (1 s of brain time ≈ 35 s), matches the Nature 2024 numbers (~400 active neurons, MN9 firing on sugar), and we can already find and cut a circuit — the tongue-to-mouth path is just 3 synapses long.</a:t>
            </a:r>
            <a:endParaRPr sz="15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
            </a:r>
            <a:fld id="{00000000-1234-1234-1234-123412341234}" type="slidenum">
              <a:rPr lang="en-IN"/>
              <a:t>10</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Preliminary Results</a:t>
            </a:r>
            <a:endParaRPr sz="4000" b="1">
              <a:solidFill>
                <a:srgbClr val="C00000"/>
              </a:solidFill>
              <a:latin typeface="Bookman Old Style"/>
              <a:ea typeface="Bookman Old Style"/>
              <a:cs typeface="Bookman Old Style"/>
              <a:sym typeface="Bookman Old Style"/>
            </a:endParaRPr>
          </a:p>
        </p:txBody>
      </p:sp>
      <p:pic>
        <p:nvPicPr>
          <p:cNvPr id="154" name="Picture 153" descr="sugar_test.png"/>
          <p:cNvPicPr>
            <a:picLocks noChangeAspect="1"/>
          </p:cNvPicPr>
          <p:nvPr/>
        </p:nvPicPr>
        <p:blipFill>
          <a:blip r:embed="rId2"/>
          <a:stretch>
            <a:fillRect/>
          </a:stretch>
        </p:blipFill>
        <p:spPr>
          <a:xfrm>
            <a:off x="411480" y="1234440"/>
            <a:ext cx="6035040" cy="2414016"/>
          </a:xfrm>
          <a:prstGeom prst="rect">
            <a:avLst/>
          </a:prstGeom>
        </p:spPr>
      </p:pic>
      <p:pic>
        <p:nvPicPr>
          <p:cNvPr id="155" name="Picture 154" descr="lesion_test.png"/>
          <p:cNvPicPr>
            <a:picLocks noChangeAspect="1"/>
          </p:cNvPicPr>
          <p:nvPr/>
        </p:nvPicPr>
        <p:blipFill>
          <a:blip r:embed="rId3"/>
          <a:stretch>
            <a:fillRect/>
          </a:stretch>
        </p:blipFill>
        <p:spPr>
          <a:xfrm>
            <a:off x="6720840" y="1234440"/>
            <a:ext cx="5120640" cy="2633472"/>
          </a:xfrm>
          <a:prstGeom prst="rect">
            <a:avLst/>
          </a:prstGeom>
        </p:spPr>
      </p:pic>
      <p:sp>
        <p:nvSpPr>
          <p:cNvPr id="156" name="TextBox 155"/>
          <p:cNvSpPr txBox="1"/>
          <p:nvPr/>
        </p:nvSpPr>
        <p:spPr>
          <a:xfrm>
            <a:off x="411480" y="3703320"/>
            <a:ext cx="6035040" cy="548640"/>
          </a:xfrm>
          <a:prstGeom prst="rect">
            <a:avLst/>
          </a:prstGeom>
          <a:noFill/>
        </p:spPr>
        <p:txBody>
          <a:bodyPr wrap="square">
            <a:spAutoFit/>
          </a:bodyPr>
          <a:lstStyle/>
          <a:p>
            <a:pPr algn="ctr"/>
            <a:r>
              <a:rPr sz="1200" b="0">
                <a:solidFill>
                  <a:srgbClr val="002060"/>
                </a:solidFill>
                <a:latin typeface="Bookman Old Style"/>
              </a:rPr>
              <a:t>Sugar on the tongue → 380 neurons active, feeding neuron MN9 at 95–98 Hz.
Random input → MN9 silent (0 Hz). Same result in 3 of 3 runs.</a:t>
            </a:r>
          </a:p>
        </p:txBody>
      </p:sp>
      <p:sp>
        <p:nvSpPr>
          <p:cNvPr id="157" name="TextBox 156"/>
          <p:cNvSpPr txBox="1"/>
          <p:nvPr/>
        </p:nvSpPr>
        <p:spPr>
          <a:xfrm>
            <a:off x="6720840" y="3703320"/>
            <a:ext cx="5120640" cy="548640"/>
          </a:xfrm>
          <a:prstGeom prst="rect">
            <a:avLst/>
          </a:prstGeom>
          <a:noFill/>
        </p:spPr>
        <p:txBody>
          <a:bodyPr wrap="square">
            <a:spAutoFit/>
          </a:bodyPr>
          <a:lstStyle/>
          <a:p>
            <a:pPr algn="ctr"/>
            <a:r>
              <a:rPr sz="1100" b="0">
                <a:solidFill>
                  <a:srgbClr val="002060"/>
                </a:solidFill>
                <a:latin typeface="Bookman Old Style"/>
              </a:rPr>
              <a:t>Brain surgery: cut the 3 command neurons → feeding stops (1 Hz).
Cut 10 random neurons → nothing changes (91 Hz).</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9418320" y="1051560"/>
            <a:ext cx="2606040" cy="50292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300" b="1"/>
              <a:t xml:space="preserve">Animation (plays in slideshow): </a:t>
            </a:r>
            <a:r>
              <a:rPr lang="en-IN" sz="1300"/>
              <a:t>left — the real wiring, neurons placed by distance from the tongue, flashing as they fire. Right — a fly whose mouth is driven live by the MN9 'eat' neuron.</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0–350 ms: </a:t>
            </a:r>
            <a:r>
              <a:rPr lang="en-IN" sz="1300"/>
              <a:t>sugar arrives → signal ripples hop by hop → MN9 fires → mouth extends.</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350 ms: </a:t>
            </a:r>
            <a:r>
              <a:rPr lang="en-IN" sz="1300"/>
              <a:t>we cut 3 command neurons (red ✕) → MN9 goes silent → mouth retracts.</a:t>
            </a:r>
            <a:endParaRPr sz="1300"/>
          </a:p>
          <a:p>
            <a:pPr marL="228600" lvl="0" indent="-228600" algn="l" rtl="0">
              <a:lnSpc>
                <a:spcPct val="90000"/>
              </a:lnSpc>
              <a:spcBef>
                <a:spcPts val="1000"/>
              </a:spcBef>
              <a:spcAft>
                <a:spcPts val="0"/>
              </a:spcAft>
              <a:buClr>
                <a:srgbClr val="002060"/>
              </a:buClr>
              <a:buSzPts val="2800"/>
              <a:buChar char="•"/>
            </a:pPr>
            <a:r>
              <a:rPr lang="en-IN" sz="1300" b="1"/>
              <a:t xml:space="preserve">December version: </a:t>
            </a:r>
            <a:r>
              <a:rPr lang="en-IN" sz="1300"/>
              <a:t>a 2-D fly walking in an arena, buttons for sugar / bitter / touch / light, a scalpel tool, and a chat box to the AI scientist.</a:t>
            </a:r>
            <a:endParaRPr sz="130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
            </a:r>
            <a:fld id="{00000000-1234-1234-1234-123412341234}" type="slidenum">
              <a:rPr lang="en-IN"/>
              <a:t>11</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Live Demo</a:t>
            </a:r>
            <a:endParaRPr sz="4000" b="1">
              <a:solidFill>
                <a:srgbClr val="C00000"/>
              </a:solidFill>
              <a:latin typeface="Bookman Old Style"/>
              <a:ea typeface="Bookman Old Style"/>
              <a:cs typeface="Bookman Old Style"/>
              <a:sym typeface="Bookman Old Style"/>
            </a:endParaRPr>
          </a:p>
        </p:txBody>
      </p:sp>
      <p:pic>
        <p:nvPicPr>
          <p:cNvPr id="154" name="Picture 153" descr="fly_feeding_demo.gif"/>
          <p:cNvPicPr>
            <a:picLocks noChangeAspect="1"/>
          </p:cNvPicPr>
          <p:nvPr/>
        </p:nvPicPr>
        <p:blipFill>
          <a:blip r:embed="rId2"/>
          <a:stretch>
            <a:fillRect/>
          </a:stretch>
        </p:blipFill>
        <p:spPr>
          <a:xfrm>
            <a:off x="822960" y="1051560"/>
            <a:ext cx="8503920" cy="43936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Expected results:</a:t>
            </a:r>
            <a:endParaRPr sz="1600"/>
          </a:p>
          <a:p>
            <a:pPr marL="685800" lvl="1" indent="-228600" algn="l" rtl="0">
              <a:lnSpc>
                <a:spcPct val="90000"/>
              </a:lnSpc>
              <a:spcBef>
                <a:spcPts val="500"/>
              </a:spcBef>
              <a:spcAft>
                <a:spcPts val="0"/>
              </a:spcAft>
              <a:buClr>
                <a:schemeClr val="dk1"/>
              </a:buClr>
              <a:buSzPct val="100000"/>
              <a:buChar char="•"/>
            </a:pPr>
            <a:r>
              <a:rPr lang="en-IN" sz="1500"/>
              <a:t>A whole-brain simulator on a laptop that matches the Nature 2024 results for feeding, bitter suppression and grooming.</a:t>
            </a:r>
            <a:endParaRPr sz="1500"/>
          </a:p>
          <a:p>
            <a:pPr marL="685800" lvl="1" indent="-228600" algn="l" rtl="0">
              <a:lnSpc>
                <a:spcPct val="90000"/>
              </a:lnSpc>
              <a:spcBef>
                <a:spcPts val="500"/>
              </a:spcBef>
              <a:spcAft>
                <a:spcPts val="0"/>
              </a:spcAft>
              <a:buClr>
                <a:schemeClr val="dk1"/>
              </a:buClr>
              <a:buSzPct val="100000"/>
              <a:buChar char="•"/>
            </a:pPr>
            <a:r>
              <a:rPr lang="en-IN" sz="1500"/>
              <a:t>A 2-D virtual fly driven by the brain: walks toward food, escapes threats, grooms — and visibly breaks when specific neurons are cut.</a:t>
            </a:r>
            <a:endParaRPr sz="1500"/>
          </a:p>
          <a:p>
            <a:pPr marL="685800" lvl="1" indent="-228600" algn="l" rtl="0">
              <a:lnSpc>
                <a:spcPct val="90000"/>
              </a:lnSpc>
              <a:spcBef>
                <a:spcPts val="500"/>
              </a:spcBef>
              <a:spcAft>
                <a:spcPts val="0"/>
              </a:spcAft>
              <a:buClr>
                <a:schemeClr val="dk1"/>
              </a:buClr>
              <a:buSzPct val="100000"/>
              <a:buChar char="•"/>
            </a:pPr>
            <a:r>
              <a:rPr lang="en-IN" sz="1500"/>
              <a:t>An AI scientist that, given only "what makes the fly eat?", finds the responsible neurons by itself (we already found the 3 key neurons by hand).</a:t>
            </a:r>
            <a:endParaRPr sz="1500"/>
          </a:p>
          <a:p>
            <a:pPr marL="685800" lvl="1" indent="-228600" algn="l" rtl="0">
              <a:lnSpc>
                <a:spcPct val="90000"/>
              </a:lnSpc>
              <a:spcBef>
                <a:spcPts val="500"/>
              </a:spcBef>
              <a:spcAft>
                <a:spcPts val="0"/>
              </a:spcAft>
              <a:buClr>
                <a:schemeClr val="dk1"/>
              </a:buClr>
              <a:buSzPct val="100000"/>
              <a:buChar char="•"/>
            </a:pPr>
            <a:r>
              <a:rPr lang="en-IN" sz="1500"/>
              <a:t>A benchmark table and shuffle curve showing where fly wiring beats, ties or loses to random and engineered networks.</a:t>
            </a:r>
            <a:endParaRPr sz="1500"/>
          </a:p>
          <a:p>
            <a:pPr marL="685800" lvl="1" indent="-228600" algn="l" rtl="0">
              <a:lnSpc>
                <a:spcPct val="90000"/>
              </a:lnSpc>
              <a:spcBef>
                <a:spcPts val="500"/>
              </a:spcBef>
              <a:spcAft>
                <a:spcPts val="0"/>
              </a:spcAft>
              <a:buClr>
                <a:schemeClr val="dk1"/>
              </a:buClr>
              <a:buSzPct val="100000"/>
              <a:buChar char="•"/>
            </a:pPr>
            <a:r>
              <a:rPr lang="en-IN" sz="1500"/>
              <a:t>An open-source web dashboard anyone can use without neuroscience knowledge.</a:t>
            </a:r>
            <a:endParaRPr sz="1500"/>
          </a:p>
          <a:p>
            <a:pPr marL="228600" lvl="0" indent="-228600" algn="l" rtl="0">
              <a:lnSpc>
                <a:spcPct val="90000"/>
              </a:lnSpc>
              <a:spcBef>
                <a:spcPts val="1000"/>
              </a:spcBef>
              <a:spcAft>
                <a:spcPts val="0"/>
              </a:spcAft>
              <a:buClr>
                <a:srgbClr val="002060"/>
              </a:buClr>
              <a:buSzPts val="2800"/>
              <a:buChar char="•"/>
            </a:pPr>
            <a:r>
              <a:rPr lang="en-IN" sz="1600" b="1"/>
              <a:t xml:space="preserve">Impact: </a:t>
            </a:r>
            <a:r>
              <a:rPr lang="en-IN" sz="1600"/>
              <a:t>labs simulate before experimenting (saves months); AI researchers get evidence on copying biological wiring; the pipeline transfers to the mouse connectome now being mapped; supports low-power (neuromorphic) computing.</a:t>
            </a:r>
            <a:endParaRPr sz="1600"/>
          </a:p>
          <a:p>
            <a:pPr marL="228600" lvl="0" indent="-228600" algn="l" rtl="0">
              <a:lnSpc>
                <a:spcPct val="90000"/>
              </a:lnSpc>
              <a:spcBef>
                <a:spcPts val="1000"/>
              </a:spcBef>
              <a:spcAft>
                <a:spcPts val="0"/>
              </a:spcAft>
              <a:buClr>
                <a:srgbClr val="002060"/>
              </a:buClr>
              <a:buSzPts val="2800"/>
              <a:buChar char="•"/>
            </a:pPr>
            <a:r>
              <a:rPr lang="en-IN" sz="1600" b="1"/>
              <a:t xml:space="preserve">Future directions: </a:t>
            </a:r>
            <a:r>
              <a:rPr lang="en-IN" sz="1600"/>
              <a:t>3-D physics fly (NeuroMechFly / Flybody); learning via dopamine-gated plasticity in the mushroom body; male-vs-female connectome comparison; running the circuit on a neuromorphic chip or Raspberry Pi.</a:t>
            </a:r>
            <a:endParaRPr sz="1600"/>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600" b="1"/>
              <a:t>Phase 1 – Foundation (Weeks 1–2, 17 Sep – 1 Oct)</a:t>
            </a:r>
            <a:endParaRPr sz="1600"/>
          </a:p>
          <a:p>
            <a:pPr marL="685800" lvl="1" indent="-228600" algn="l" rtl="0">
              <a:lnSpc>
                <a:spcPct val="90000"/>
              </a:lnSpc>
              <a:spcBef>
                <a:spcPts val="500"/>
              </a:spcBef>
              <a:spcAft>
                <a:spcPts val="0"/>
              </a:spcAft>
              <a:buClr>
                <a:schemeClr val="dk1"/>
              </a:buClr>
              <a:buSzPct val="100000"/>
              <a:buChar char="•"/>
            </a:pPr>
            <a:r>
              <a:rPr lang="en-IN" sz="1500"/>
              <a:t>Scope agreed with mentor; GitHub repo; simulator cleaned up (30-trial runs, faster updates); cell-type labels loaded.</a:t>
            </a:r>
            <a:endParaRPr sz="1500"/>
          </a:p>
          <a:p>
            <a:pPr marL="228600" lvl="0" indent="-228600" algn="l" rtl="0">
              <a:lnSpc>
                <a:spcPct val="90000"/>
              </a:lnSpc>
              <a:spcBef>
                <a:spcPts val="1000"/>
              </a:spcBef>
              <a:spcAft>
                <a:spcPts val="0"/>
              </a:spcAft>
              <a:buClr>
                <a:srgbClr val="002060"/>
              </a:buClr>
              <a:buSzPts val="2800"/>
              <a:buChar char="•"/>
            </a:pPr>
            <a:r>
              <a:rPr lang="en-IN" sz="1600" b="1"/>
              <a:t>Phase 2 – Validation + Atlas (Weeks 3–5, 1 Oct – 22 Oct)</a:t>
            </a:r>
            <a:endParaRPr sz="1600"/>
          </a:p>
          <a:p>
            <a:pPr marL="685800" lvl="1" indent="-228600" algn="l" rtl="0">
              <a:lnSpc>
                <a:spcPct val="90000"/>
              </a:lnSpc>
              <a:spcBef>
                <a:spcPts val="500"/>
              </a:spcBef>
              <a:spcAft>
                <a:spcPts val="0"/>
              </a:spcAft>
              <a:buClr>
                <a:schemeClr val="dk1"/>
              </a:buClr>
              <a:buSzPct val="100000"/>
              <a:buChar char="•"/>
            </a:pPr>
            <a:r>
              <a:rPr lang="en-IN" sz="1500"/>
              <a:t>Reproduce feeding, bitter-suppression, grooming; "we match the paper" table; graph queries (paths, hubs, communities).</a:t>
            </a:r>
            <a:endParaRPr sz="1500"/>
          </a:p>
          <a:p>
            <a:pPr marL="228600" lvl="0" indent="-228600" algn="l" rtl="0">
              <a:lnSpc>
                <a:spcPct val="90000"/>
              </a:lnSpc>
              <a:spcBef>
                <a:spcPts val="1000"/>
              </a:spcBef>
              <a:spcAft>
                <a:spcPts val="0"/>
              </a:spcAft>
              <a:buClr>
                <a:srgbClr val="002060"/>
              </a:buClr>
              <a:buSzPts val="2800"/>
              <a:buChar char="•"/>
            </a:pPr>
            <a:r>
              <a:rPr lang="en-IN" sz="1600" b="1"/>
              <a:t>Phase 3 – Virtual fly + AI scientist (Weeks 6–9, 22 Oct – 19 Nov)</a:t>
            </a:r>
            <a:endParaRPr sz="1600"/>
          </a:p>
          <a:p>
            <a:pPr marL="685800" lvl="1" indent="-228600" algn="l" rtl="0">
              <a:lnSpc>
                <a:spcPct val="90000"/>
              </a:lnSpc>
              <a:spcBef>
                <a:spcPts val="500"/>
              </a:spcBef>
              <a:spcAft>
                <a:spcPts val="0"/>
              </a:spcAft>
              <a:buClr>
                <a:schemeClr val="dk1"/>
              </a:buClr>
              <a:buSzPct val="100000"/>
              <a:buChar char="•"/>
            </a:pPr>
            <a:r>
              <a:rPr lang="en-IN" sz="1500"/>
              <a:t>2-D fly arena: motor neurons → movement; food-seeking and escape behaviours; live neuron cutting.</a:t>
            </a:r>
            <a:endParaRPr sz="1500"/>
          </a:p>
          <a:p>
            <a:pPr marL="685800" lvl="1" indent="-228600" algn="l" rtl="0">
              <a:lnSpc>
                <a:spcPct val="90000"/>
              </a:lnSpc>
              <a:spcBef>
                <a:spcPts val="500"/>
              </a:spcBef>
              <a:spcAft>
                <a:spcPts val="0"/>
              </a:spcAft>
              <a:buClr>
                <a:schemeClr val="dk1"/>
              </a:buClr>
              <a:buSzPct val="100000"/>
              <a:buChar char="•"/>
            </a:pPr>
            <a:r>
              <a:rPr lang="en-IN" sz="1500"/>
              <a:t>Expose stimulate / record / cut / query as LLM tools; agent must rediscover the feeding circuit unaided, then grooming.</a:t>
            </a:r>
            <a:endParaRPr sz="1500"/>
          </a:p>
          <a:p>
            <a:pPr marL="228600" lvl="0" indent="-228600" algn="l" rtl="0">
              <a:lnSpc>
                <a:spcPct val="90000"/>
              </a:lnSpc>
              <a:spcBef>
                <a:spcPts val="1000"/>
              </a:spcBef>
              <a:spcAft>
                <a:spcPts val="0"/>
              </a:spcAft>
              <a:buClr>
                <a:srgbClr val="002060"/>
              </a:buClr>
              <a:buSzPts val="2800"/>
              <a:buChar char="•"/>
            </a:pPr>
            <a:r>
              <a:rPr lang="en-IN" sz="1600" b="1"/>
              <a:t>Phase 4 – Neural-network benchmark (Weeks 8–11, 5 Nov – 3 Dec)</a:t>
            </a:r>
            <a:endParaRPr sz="1600"/>
          </a:p>
          <a:p>
            <a:pPr marL="685800" lvl="1" indent="-228600" algn="l" rtl="0">
              <a:lnSpc>
                <a:spcPct val="90000"/>
              </a:lnSpc>
              <a:spcBef>
                <a:spcPts val="500"/>
              </a:spcBef>
              <a:spcAft>
                <a:spcPts val="0"/>
              </a:spcAft>
              <a:buClr>
                <a:schemeClr val="dk1"/>
              </a:buClr>
              <a:buSzPct val="100000"/>
              <a:buChar char="•"/>
            </a:pPr>
            <a:r>
              <a:rPr lang="en-IN" sz="1500"/>
              <a:t>Fly wiring as frozen (reservoir) and trainable PyTorch models; 3–5 tasks; shuffle curve; baselines.</a:t>
            </a:r>
            <a:endParaRPr sz="1500"/>
          </a:p>
          <a:p>
            <a:pPr marL="228600" lvl="0" indent="-228600" algn="l" rtl="0">
              <a:lnSpc>
                <a:spcPct val="90000"/>
              </a:lnSpc>
              <a:spcBef>
                <a:spcPts val="1000"/>
              </a:spcBef>
              <a:spcAft>
                <a:spcPts val="0"/>
              </a:spcAft>
              <a:buClr>
                <a:srgbClr val="002060"/>
              </a:buClr>
              <a:buSzPts val="2800"/>
              <a:buChar char="•"/>
            </a:pPr>
            <a:r>
              <a:rPr lang="en-IN" sz="1600" b="1"/>
              <a:t>Phase 5 – Dashboard, report, paper (Weeks 11–13, 3 Dec – 17 Dec)</a:t>
            </a:r>
            <a:endParaRPr sz="1600"/>
          </a:p>
          <a:p>
            <a:pPr marL="685800" lvl="1" indent="-228600" algn="l" rtl="0">
              <a:lnSpc>
                <a:spcPct val="90000"/>
              </a:lnSpc>
              <a:spcBef>
                <a:spcPts val="500"/>
              </a:spcBef>
              <a:spcAft>
                <a:spcPts val="0"/>
              </a:spcAft>
              <a:buClr>
                <a:schemeClr val="dk1"/>
              </a:buClr>
              <a:buSzPct val="100000"/>
              <a:buChar char="•"/>
            </a:pPr>
            <a:r>
              <a:rPr lang="en-IN" sz="1500"/>
              <a:t>Web dashboard integrating fly, brain view and chat; final demo; report; IEEE-format paper draft.</a:t>
            </a:r>
            <a:endParaRPr sz="1500"/>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800" b="1"/>
              <a:t xml:space="preserve">Summary: </a:t>
            </a:r>
            <a:r>
              <a:rPr lang="en-IN" sz="1800"/>
              <a:t>For the first time we have a complete brain wiring diagram, and it runs on a laptop — we have already reproduced a Nature 2024 result and animated it. Our project turns this into a platform: a simulator, a labelled atlas, a virtual fly, an AI agent that experiments on the brain by itself, and a fair test of whether evolution's wiring beats human-designed networks.</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Final thought: </a:t>
            </a:r>
            <a:r>
              <a:rPr lang="en-IN" sz="1800"/>
              <a:t>This is where neuroscience and AI meet. A fly solves vision, flight and learning with 139 thousand neurons and almost no power. If its wiring holds design lessons, the fastest way to find them is to run it, poke it, and let an AI help us understand it.</a:t>
            </a:r>
            <a:endParaRPr sz="1800"/>
          </a:p>
          <a:p>
            <a:pPr marL="228600" lvl="0" indent="-228600" algn="l" rtl="0">
              <a:lnSpc>
                <a:spcPct val="90000"/>
              </a:lnSpc>
              <a:spcBef>
                <a:spcPts val="1000"/>
              </a:spcBef>
              <a:spcAft>
                <a:spcPts val="0"/>
              </a:spcAft>
              <a:buClr>
                <a:srgbClr val="002060"/>
              </a:buClr>
              <a:buSzPts val="2800"/>
              <a:buChar char="•"/>
            </a:pPr>
            <a:r>
              <a:rPr lang="en-IN" sz="1800" b="1"/>
              <a:t xml:space="preserve">Next steps: </a:t>
            </a:r>
            <a:r>
              <a:rPr lang="en-IN" sz="1800"/>
              <a:t>mentor approval → validation runs (Oct) → virtual fly and agent prototype (Nov) → benchmark and dashboard (Dec) → conference paper.</a:t>
            </a:r>
            <a:endParaRPr sz="1800"/>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rgbClr val="002060"/>
              </a:buClr>
              <a:buSzPts val="2800"/>
              <a:buNone/>
            </a:pPr>
            <a:r>
              <a:rPr lang="en-IN" sz="1200"/>
              <a:t>Dorkenwald, S., Matsliah, A., Sterling, A. R., Schlegel, P., Yu, S.-C., McKellar, C. E., … Murthy, M. (2024). Neuronal wiring diagram of an adult brain. Nature, 634, 124–138. https://doi.org/10.1038/s41586-024-07558-y</a:t>
            </a:r>
            <a:endParaRPr sz="1200"/>
          </a:p>
          <a:p>
            <a:pPr marL="228600" lvl="0" indent="-50800" algn="l" rtl="0">
              <a:lnSpc>
                <a:spcPct val="90000"/>
              </a:lnSpc>
              <a:spcBef>
                <a:spcPts val="1000"/>
              </a:spcBef>
              <a:spcAft>
                <a:spcPts val="0"/>
              </a:spcAft>
              <a:buClr>
                <a:srgbClr val="002060"/>
              </a:buClr>
              <a:buSzPts val="2800"/>
              <a:buNone/>
            </a:pPr>
            <a:r>
              <a:rPr lang="en-IN" sz="1200"/>
              <a:t>Schlegel, P., Yin, Y., Bates, A. S., Dorkenwald, S., Eichler, K., … Jefferis, G. S. X. E. (2024). Whole-brain annotation and multi-connectome cell typing of Drosophila. Nature, 634, 139–152. https://doi.org/10.1038/s41586-024-07686-5</a:t>
            </a:r>
            <a:endParaRPr sz="1200"/>
          </a:p>
          <a:p>
            <a:pPr marL="228600" lvl="0" indent="-50800" algn="l" rtl="0">
              <a:lnSpc>
                <a:spcPct val="90000"/>
              </a:lnSpc>
              <a:spcBef>
                <a:spcPts val="1000"/>
              </a:spcBef>
              <a:spcAft>
                <a:spcPts val="0"/>
              </a:spcAft>
              <a:buClr>
                <a:srgbClr val="002060"/>
              </a:buClr>
              <a:buSzPts val="2800"/>
              <a:buNone/>
            </a:pPr>
            <a:r>
              <a:rPr lang="en-IN" sz="1200"/>
              <a:t>Lin, A., Yang, R., Dorkenwald, S., Matsliah, A., Sterling, A. R., … Murthy, M. (2024). Network statistics of the whole-brain connectome of Drosophila. Nature, 634, 153–165. https://doi.org/10.1038/s41586-024-07968-y</a:t>
            </a:r>
            <a:endParaRPr sz="1200"/>
          </a:p>
          <a:p>
            <a:pPr marL="228600" lvl="0" indent="-50800" algn="l" rtl="0">
              <a:lnSpc>
                <a:spcPct val="90000"/>
              </a:lnSpc>
              <a:spcBef>
                <a:spcPts val="1000"/>
              </a:spcBef>
              <a:spcAft>
                <a:spcPts val="0"/>
              </a:spcAft>
              <a:buClr>
                <a:srgbClr val="002060"/>
              </a:buClr>
              <a:buSzPts val="2800"/>
              <a:buNone/>
            </a:pPr>
            <a:r>
              <a:rPr lang="en-IN" sz="1200"/>
              <a:t>Shiu, P. K., Sterne, G. R., Spiller, N., Blagburn, D. I., Mosca, T. J., … Scott, K. (2024). A Drosophila computational brain model reveals sensorimotor processing. Nature, 634, 210–219. https://doi.org/10.1038/s41586-024-07763-9</a:t>
            </a:r>
            <a:endParaRPr sz="1200"/>
          </a:p>
          <a:p>
            <a:pPr marL="228600" lvl="0" indent="-50800" algn="l" rtl="0">
              <a:lnSpc>
                <a:spcPct val="90000"/>
              </a:lnSpc>
              <a:spcBef>
                <a:spcPts val="1000"/>
              </a:spcBef>
              <a:spcAft>
                <a:spcPts val="0"/>
              </a:spcAft>
              <a:buClr>
                <a:srgbClr val="002060"/>
              </a:buClr>
              <a:buSzPts val="2800"/>
              <a:buNone/>
            </a:pPr>
            <a:r>
              <a:rPr lang="en-IN" sz="1200"/>
              <a:t>Lappalainen, J. K., Tschopp, F. D., Prakhya, S., McGill, M., Nern, A., … Turaga, S. C. (2024). Connectome-constrained networks predict neural activity across the fly visual system. Nature, 634, 1132–1140. https://doi.org/10.1038/s41586-024-07939-3</a:t>
            </a:r>
            <a:endParaRPr sz="1200"/>
          </a:p>
          <a:p>
            <a:pPr marL="228600" lvl="0" indent="-50800" algn="l" rtl="0">
              <a:lnSpc>
                <a:spcPct val="90000"/>
              </a:lnSpc>
              <a:spcBef>
                <a:spcPts val="1000"/>
              </a:spcBef>
              <a:spcAft>
                <a:spcPts val="0"/>
              </a:spcAft>
              <a:buClr>
                <a:srgbClr val="002060"/>
              </a:buClr>
              <a:buSzPts val="2800"/>
              <a:buNone/>
            </a:pPr>
            <a:r>
              <a:rPr lang="en-IN" sz="1200"/>
              <a:t>Nern, A., Loesche, F., Takemura, S., Burnett, L. E., Dreher, M., … Reiser, M. B. (2025). Connectome-driven neural inventory of a complete visual system. Nature, 641, 1225–1237. https://doi.org/10.1038/s41586-025-08746-0</a:t>
            </a:r>
            <a:endParaRPr sz="1200"/>
          </a:p>
          <a:p>
            <a:pPr marL="228600" lvl="0" indent="-50800" algn="l" rtl="0">
              <a:lnSpc>
                <a:spcPct val="90000"/>
              </a:lnSpc>
              <a:spcBef>
                <a:spcPts val="1000"/>
              </a:spcBef>
              <a:spcAft>
                <a:spcPts val="0"/>
              </a:spcAft>
              <a:buClr>
                <a:srgbClr val="002060"/>
              </a:buClr>
              <a:buSzPts val="2800"/>
              <a:buNone/>
            </a:pPr>
            <a:r>
              <a:rPr lang="en-IN" sz="1200"/>
              <a:t>Vaxenburg, R., Siwanowicz, I., Merel, J., Robie, A. A., Morrow, C., … Turaga, S. C. (2025). Whole-body physics simulation of fruit fly locomotion. Nature, 643, 1312–1320. https://doi.org/10.1038/s41586-025-09029-4</a:t>
            </a:r>
            <a:endParaRPr sz="1200"/>
          </a:p>
          <a:p>
            <a:pPr marL="228600" lvl="0" indent="-50800" algn="l" rtl="0">
              <a:lnSpc>
                <a:spcPct val="90000"/>
              </a:lnSpc>
              <a:spcBef>
                <a:spcPts val="1000"/>
              </a:spcBef>
              <a:spcAft>
                <a:spcPts val="0"/>
              </a:spcAft>
              <a:buClr>
                <a:srgbClr val="002060"/>
              </a:buClr>
              <a:buSzPts val="2800"/>
              <a:buNone/>
            </a:pPr>
            <a:r>
              <a:rPr lang="en-IN" sz="1200"/>
              <a:t>Stürner, T., et al. (2025). Comparative connectomics of Drosophila descending and ascending neurons. Nature, 643, 158–172. https://doi.org/10.1038/s41586-025-08925-z</a:t>
            </a:r>
            <a:endParaRPr sz="120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 (1/2)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rgbClr val="002060"/>
              </a:buClr>
              <a:buSzPts val="2800"/>
              <a:buNone/>
            </a:pPr>
            <a:r>
              <a:rPr lang="en-IN" sz="1200"/>
              <a:t>Costi, L., Hadjiivanov, A., Dold, D., Hale, Z. F., &amp; Izzo, D. (2025). The Drosophila connectome as a computational reservoir for time-series prediction. Biomimetics, 10(5), 341. https://doi.org/10.3390/biomimetics10050341</a:t>
            </a:r>
            <a:endParaRPr sz="1200"/>
          </a:p>
          <a:p>
            <a:pPr marL="228600" lvl="0" indent="-50800" algn="l" rtl="0">
              <a:lnSpc>
                <a:spcPct val="90000"/>
              </a:lnSpc>
              <a:spcBef>
                <a:spcPts val="1000"/>
              </a:spcBef>
              <a:spcAft>
                <a:spcPts val="0"/>
              </a:spcAft>
              <a:buClr>
                <a:srgbClr val="002060"/>
              </a:buClr>
              <a:buSzPts val="2800"/>
              <a:buNone/>
            </a:pPr>
            <a:r>
              <a:rPr lang="en-IN" sz="1200"/>
              <a:t>Bates, A. S., Phelps, J. S., Kim, M., Yang, H. H., … BANC-FlyWire Consortium. (2026). Distributed control circuits across a brain-and-cord connectome. Nature. https://doi.org/10.1038/s41586-026-10735-w</a:t>
            </a:r>
            <a:endParaRPr sz="1200"/>
          </a:p>
          <a:p>
            <a:pPr marL="228600" lvl="0" indent="-50800" algn="l" rtl="0">
              <a:lnSpc>
                <a:spcPct val="90000"/>
              </a:lnSpc>
              <a:spcBef>
                <a:spcPts val="1000"/>
              </a:spcBef>
              <a:spcAft>
                <a:spcPts val="0"/>
              </a:spcAft>
              <a:buClr>
                <a:srgbClr val="002060"/>
              </a:buClr>
              <a:buSzPts val="2800"/>
              <a:buNone/>
            </a:pPr>
            <a:r>
              <a:rPr lang="en-IN" sz="1200"/>
              <a:t>FlyEM Project Team (HHMI Janelia, University of Cambridge, MRC LMB &amp; Google Research). (2026). Sexual dimorphism in the complete connectome of the Drosophila male central nervous system. Cell. https://www.cell.com/cell/fulltext/S0092-8674(26)00942-6</a:t>
            </a:r>
            <a:endParaRPr sz="1200"/>
          </a:p>
          <a:p>
            <a:pPr marL="228600" lvl="0" indent="-50800" algn="l" rtl="0">
              <a:lnSpc>
                <a:spcPct val="90000"/>
              </a:lnSpc>
              <a:spcBef>
                <a:spcPts val="1000"/>
              </a:spcBef>
              <a:spcAft>
                <a:spcPts val="0"/>
              </a:spcAft>
              <a:buClr>
                <a:srgbClr val="002060"/>
              </a:buClr>
              <a:buSzPts val="2800"/>
              <a:buNone/>
            </a:pPr>
            <a:r>
              <a:rPr lang="en-IN" sz="1200"/>
              <a:t>Jin, Z., Zhu, Y., Zhang, C., &amp; Sui, Y. (2026). Whole-brain connectomic graph model enables whole-body locomotion control in fruit fly. arXiv preprint arXiv:2602.17997.</a:t>
            </a:r>
            <a:endParaRPr sz="1200"/>
          </a:p>
          <a:p>
            <a:pPr marL="228600" lvl="0" indent="-50800" algn="l" rtl="0">
              <a:lnSpc>
                <a:spcPct val="90000"/>
              </a:lnSpc>
              <a:spcBef>
                <a:spcPts val="1000"/>
              </a:spcBef>
              <a:spcAft>
                <a:spcPts val="0"/>
              </a:spcAft>
              <a:buClr>
                <a:srgbClr val="002060"/>
              </a:buClr>
              <a:buSzPts val="2800"/>
              <a:buNone/>
            </a:pPr>
            <a:r>
              <a:rPr lang="en-IN" sz="1200"/>
              <a:t>Lobato-Rios, V., et al. (2022). NeuroMechFly, a neuromechanical model of adult Drosophila melanogaster. Nature Methods, 19, 620–627. https://doi.org/10.1038/s41592-022-01466-7</a:t>
            </a:r>
            <a:endParaRPr sz="1200"/>
          </a:p>
          <a:p>
            <a:pPr marL="228600" lvl="0" indent="-50800" algn="l" rtl="0">
              <a:lnSpc>
                <a:spcPct val="90000"/>
              </a:lnSpc>
              <a:spcBef>
                <a:spcPts val="1000"/>
              </a:spcBef>
              <a:spcAft>
                <a:spcPts val="0"/>
              </a:spcAft>
              <a:buClr>
                <a:srgbClr val="002060"/>
              </a:buClr>
              <a:buSzPts val="2800"/>
              <a:buNone/>
            </a:pPr>
            <a:r>
              <a:rPr lang="en-IN" sz="1200"/>
              <a:t>State of Brain Emulation Report 2025. (2025). arXiv preprint arXiv:2510.15745.</a:t>
            </a:r>
            <a:endParaRPr sz="1200"/>
          </a:p>
          <a:p>
            <a:pPr marL="228600" lvl="0" indent="-50800" algn="l" rtl="0">
              <a:lnSpc>
                <a:spcPct val="90000"/>
              </a:lnSpc>
              <a:spcBef>
                <a:spcPts val="1000"/>
              </a:spcBef>
              <a:spcAft>
                <a:spcPts val="0"/>
              </a:spcAft>
              <a:buClr>
                <a:srgbClr val="002060"/>
              </a:buClr>
              <a:buSzPts val="2800"/>
              <a:buNone/>
            </a:pPr>
            <a:r>
              <a:rPr lang="en-IN" sz="1200"/>
              <a:t>FlyWire Consortium. (2024). FlyWire Codex: Connectome Data Explorer, release v783 [Dataset]. https://codex.flywire.ai</a:t>
            </a:r>
            <a:endParaRPr sz="1200"/>
          </a:p>
          <a:p>
            <a:pPr marL="228600" lvl="0" indent="-50800" algn="l" rtl="0">
              <a:lnSpc>
                <a:spcPct val="90000"/>
              </a:lnSpc>
              <a:spcBef>
                <a:spcPts val="1000"/>
              </a:spcBef>
              <a:spcAft>
                <a:spcPts val="0"/>
              </a:spcAft>
              <a:buClr>
                <a:srgbClr val="002060"/>
              </a:buClr>
              <a:buSzPts val="2800"/>
              <a:buNone/>
            </a:pPr>
            <a:r>
              <a:rPr lang="en-IN" sz="1200"/>
              <a:t>Shiu, P. K. (2024). Drosophila_brain_model [Source code]. GitHub. https://github.com/philshiu/Drosophila_brain_model</a:t>
            </a:r>
            <a:endParaRPr sz="1200"/>
          </a:p>
          <a:p>
            <a:pPr marL="228600" lvl="0" indent="-50800" algn="l" rtl="0">
              <a:lnSpc>
                <a:spcPct val="90000"/>
              </a:lnSpc>
              <a:spcBef>
                <a:spcPts val="1000"/>
              </a:spcBef>
              <a:spcAft>
                <a:spcPts val="0"/>
              </a:spcAft>
              <a:buClr>
                <a:srgbClr val="002060"/>
              </a:buClr>
              <a:buSzPts val="2800"/>
              <a:buNone/>
            </a:pPr>
            <a:r>
              <a:rPr lang="en-IN" sz="1200"/>
              <a:t>Janelia FlyEM. (2026). Male CNS Connectome v1.0 [Dataset]. https://male-cns.janelia.org</a:t>
            </a:r>
            <a:endParaRPr sz="120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 (2/2)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2060"/>
              </a:buClr>
              <a:buSzPts val="2800"/>
              <a:buChar char="•"/>
            </a:pPr>
            <a:r>
              <a:rPr lang="en-IN" sz="1700" b="1"/>
              <a:t xml:space="preserve">Our target outcome: </a:t>
            </a:r>
            <a:r>
              <a:rPr lang="en-IN" sz="1700"/>
              <a:t>a conference publication plus an open-source software release.</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Conference publication: </a:t>
            </a:r>
            <a:r>
              <a:rPr lang="en-IN" sz="1700"/>
              <a:t>an IEEE-format paper on "autonomous LLM-driven circuit discovery in a whole-brain connectome" and the "evolved-vs-random wiring" benchmark. Target venues: IEEE conferences on computational intelligence / neural networks, or a computational-neuroscience workshop (COSYNE / NeurIPS workshops).</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Open-source release: </a:t>
            </a:r>
            <a:r>
              <a:rPr lang="en-IN" sz="1700"/>
              <a:t>the simulator, atlas, virtual fly, agent tools and dashboard on GitHub with documentation, so other students and labs can reproduce and extend our work.</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Research proposal (stretch): </a:t>
            </a:r>
            <a:r>
              <a:rPr lang="en-IN" sz="1700"/>
              <a:t>extend the pipeline to the 3-D physics fly, the mouse connectome and neuromorphic hardware, with a budget for a small GPU workstation and a Loihi / Raspberry Pi test board.</a:t>
            </a:r>
            <a:endParaRPr sz="1700"/>
          </a:p>
          <a:p>
            <a:pPr marL="228600" lvl="0" indent="-228600" algn="l" rtl="0">
              <a:lnSpc>
                <a:spcPct val="90000"/>
              </a:lnSpc>
              <a:spcBef>
                <a:spcPts val="1000"/>
              </a:spcBef>
              <a:spcAft>
                <a:spcPts val="0"/>
              </a:spcAft>
              <a:buClr>
                <a:srgbClr val="002060"/>
              </a:buClr>
              <a:buSzPts val="2800"/>
              <a:buChar char="•"/>
            </a:pPr>
            <a:r>
              <a:rPr lang="en-IN" sz="1700" b="1"/>
              <a:t xml:space="preserve">Patent: </a:t>
            </a:r>
            <a:r>
              <a:rPr lang="en-IN" sz="1700"/>
              <a:t>not planned — the value here is in open science and publication.</a:t>
            </a:r>
            <a:endParaRPr sz="1700"/>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Friday, 18 September 2026</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Widescreen</PresentationFormat>
  <Paragraphs>91</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BHARATH B L</cp:lastModifiedBy>
  <cp:revision>2</cp:revision>
  <dcterms:created xsi:type="dcterms:W3CDTF">2021-06-02T13:10:21Z</dcterms:created>
  <dcterms:modified xsi:type="dcterms:W3CDTF">2026-09-17T09:29:12Z</dcterms:modified>
</cp:coreProperties>
</file>
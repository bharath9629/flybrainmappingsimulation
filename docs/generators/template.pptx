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21" Type="http://customschemas.google.com/relationships/presentationmetadata" Target="meta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Title</a:t>
            </a:r>
            <a:r>
              <a:rPr lang="en-IN" sz="3600" b="1" dirty="0">
                <a:solidFill>
                  <a:schemeClr val="lt1"/>
                </a:solidFill>
                <a:latin typeface="Bookman Old Style"/>
                <a:ea typeface="Bookman Old Style"/>
                <a:cs typeface="Bookman Old Style"/>
                <a:sym typeface="Bookman Old Style"/>
              </a:rPr>
              <a:t> </a:t>
            </a:r>
            <a:endParaRPr dirty="0"/>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Theme</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3" name="Text Placeholder 2">
            <a:extLst>
              <a:ext uri="{FF2B5EF4-FFF2-40B4-BE49-F238E27FC236}">
                <a16:creationId xmlns:a16="http://schemas.microsoft.com/office/drawing/2014/main" id="{8F120F54-8A74-8F01-C238-9E7D324C3DE6}"/>
              </a:ext>
            </a:extLst>
          </p:cNvPr>
          <p:cNvSpPr>
            <a:spLocks noGrp="1"/>
          </p:cNvSpPr>
          <p:nvPr>
            <p:ph type="body" idx="1"/>
          </p:nvPr>
        </p:nvSpPr>
        <p:spPr/>
        <p:txBody>
          <a:bodyPr/>
          <a:lstStyle/>
          <a:p>
            <a:r>
              <a:rPr lang="en-IN" dirty="0"/>
              <a:t>Experiential Learning – outline of tentative steps / methodology adopted (or to be adopted)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Key studies and Findings: </a:t>
            </a:r>
            <a:r>
              <a:rPr lang="en-IN"/>
              <a:t>Summarize 4 to 5 significant studies (journals) related to your topic. Read through the publications’ abstracts and summarize the contributions in the paper.</a:t>
            </a:r>
            <a:endParaRPr b="1"/>
          </a:p>
          <a:p>
            <a:pPr marL="228600" lvl="0" indent="-228600" algn="l" rtl="0">
              <a:lnSpc>
                <a:spcPct val="90000"/>
              </a:lnSpc>
              <a:spcBef>
                <a:spcPts val="1000"/>
              </a:spcBef>
              <a:spcAft>
                <a:spcPts val="0"/>
              </a:spcAft>
              <a:buClr>
                <a:srgbClr val="002060"/>
              </a:buClr>
              <a:buSzPts val="2800"/>
              <a:buChar char="•"/>
            </a:pPr>
            <a:r>
              <a:rPr lang="en-IN" b="1"/>
              <a:t>Trends in Literature: </a:t>
            </a:r>
            <a:r>
              <a:rPr lang="en-IN"/>
              <a:t>Highlight current trends in that particular domain by referring to different papers</a:t>
            </a:r>
            <a:endParaRPr/>
          </a:p>
          <a:p>
            <a:pPr marL="228600" lvl="0" indent="-228600" algn="l" rtl="0">
              <a:lnSpc>
                <a:spcPct val="90000"/>
              </a:lnSpc>
              <a:spcBef>
                <a:spcPts val="1000"/>
              </a:spcBef>
              <a:spcAft>
                <a:spcPts val="0"/>
              </a:spcAft>
              <a:buClr>
                <a:srgbClr val="002060"/>
              </a:buClr>
              <a:buSzPts val="2800"/>
              <a:buChar char="•"/>
            </a:pPr>
            <a:r>
              <a:rPr lang="en-IN" b="1"/>
              <a:t>Theoretical Framework: </a:t>
            </a:r>
            <a:r>
              <a:rPr lang="en-IN"/>
              <a:t>Briefly define your theoretical framework and its relevance to your topic.</a:t>
            </a:r>
            <a:endParaRPr b="1"/>
          </a:p>
          <a:p>
            <a:pPr marL="228600" lvl="0" indent="-228600" algn="l" rtl="0">
              <a:lnSpc>
                <a:spcPct val="90000"/>
              </a:lnSpc>
              <a:spcBef>
                <a:spcPts val="1000"/>
              </a:spcBef>
              <a:spcAft>
                <a:spcPts val="0"/>
              </a:spcAft>
              <a:buClr>
                <a:srgbClr val="002060"/>
              </a:buClr>
              <a:buSzPts val="2800"/>
              <a:buChar char="•"/>
            </a:pPr>
            <a:r>
              <a:rPr lang="en-IN" b="1"/>
              <a:t>Relevance to current research: </a:t>
            </a:r>
            <a:r>
              <a:rPr lang="en-IN"/>
              <a:t>Explain how these studies relate to your project and support your project problem.</a:t>
            </a:r>
            <a:endParaRPr/>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Clear statement of the problem: </a:t>
            </a:r>
            <a:r>
              <a:rPr lang="en-IN"/>
              <a:t>Define the problem you are addressing with clarity.</a:t>
            </a:r>
            <a:endParaRPr/>
          </a:p>
          <a:p>
            <a:pPr marL="228600" lvl="0" indent="-228600" algn="l" rtl="0">
              <a:lnSpc>
                <a:spcPct val="90000"/>
              </a:lnSpc>
              <a:spcBef>
                <a:spcPts val="1000"/>
              </a:spcBef>
              <a:spcAft>
                <a:spcPts val="0"/>
              </a:spcAft>
              <a:buClr>
                <a:srgbClr val="002060"/>
              </a:buClr>
              <a:buSzPts val="2800"/>
              <a:buChar char="•"/>
            </a:pPr>
            <a:r>
              <a:rPr lang="en-IN" b="1"/>
              <a:t>Context of the Problem: </a:t>
            </a:r>
            <a:r>
              <a:rPr lang="en-IN"/>
              <a:t>Provide background information that helps to understand the significance of the problem.</a:t>
            </a:r>
            <a:endParaRPr/>
          </a:p>
          <a:p>
            <a:pPr marL="228600" lvl="0" indent="-228600" algn="l" rtl="0">
              <a:lnSpc>
                <a:spcPct val="90000"/>
              </a:lnSpc>
              <a:spcBef>
                <a:spcPts val="1000"/>
              </a:spcBef>
              <a:spcAft>
                <a:spcPts val="0"/>
              </a:spcAft>
              <a:buClr>
                <a:srgbClr val="002060"/>
              </a:buClr>
              <a:buSzPts val="2800"/>
              <a:buChar char="•"/>
            </a:pPr>
            <a:r>
              <a:rPr lang="en-IN" b="1"/>
              <a:t>Significance of Addressing the Problem:</a:t>
            </a:r>
            <a:r>
              <a:rPr lang="en-IN"/>
              <a:t> Explain the potential consequences of not addressing this issue. Identify the gaps that would happen if the problem is not addressed. </a:t>
            </a:r>
            <a:endParaRPr/>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Main Objective: </a:t>
            </a:r>
            <a:r>
              <a:rPr lang="en-IN"/>
              <a:t>State the primary goal of your project in one clear sentence.</a:t>
            </a:r>
            <a:endParaRPr/>
          </a:p>
          <a:p>
            <a:pPr marL="228600" lvl="0" indent="-228600" algn="l" rtl="0">
              <a:lnSpc>
                <a:spcPct val="90000"/>
              </a:lnSpc>
              <a:spcBef>
                <a:spcPts val="1000"/>
              </a:spcBef>
              <a:spcAft>
                <a:spcPts val="0"/>
              </a:spcAft>
              <a:buClr>
                <a:srgbClr val="002060"/>
              </a:buClr>
              <a:buSzPts val="2800"/>
              <a:buFont typeface="Arial"/>
              <a:buChar char="•"/>
            </a:pPr>
            <a:r>
              <a:rPr lang="en-IN" b="1"/>
              <a:t>Specific Objectives: </a:t>
            </a:r>
            <a:r>
              <a:rPr lang="en-IN"/>
              <a:t>List 2-4 specific objectives that guide your project.</a:t>
            </a:r>
            <a:endParaRPr/>
          </a:p>
          <a:p>
            <a:pPr marL="228600" lvl="0" indent="-228600" algn="l" rtl="0">
              <a:lnSpc>
                <a:spcPct val="90000"/>
              </a:lnSpc>
              <a:spcBef>
                <a:spcPts val="1000"/>
              </a:spcBef>
              <a:spcAft>
                <a:spcPts val="0"/>
              </a:spcAft>
              <a:buClr>
                <a:srgbClr val="002060"/>
              </a:buClr>
              <a:buSzPts val="2800"/>
              <a:buFont typeface="Arial"/>
              <a:buChar char="•"/>
            </a:pPr>
            <a:r>
              <a:rPr lang="en-IN" b="1"/>
              <a:t>Expected Contributions to the Field: </a:t>
            </a:r>
            <a:r>
              <a:rPr lang="en-IN"/>
              <a:t>Highlight what you hope to achieve and how it adds value to existing knowledge.</a:t>
            </a:r>
            <a:endParaRPr/>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Design: </a:t>
            </a:r>
            <a:r>
              <a:rPr lang="en-IN"/>
              <a:t>Describe your approach (qualitative, quantitative, or mixed methods).</a:t>
            </a:r>
            <a:endParaRPr/>
          </a:p>
          <a:p>
            <a:pPr marL="228600" lvl="0" indent="-228600" algn="l" rtl="0">
              <a:lnSpc>
                <a:spcPct val="90000"/>
              </a:lnSpc>
              <a:spcBef>
                <a:spcPts val="1000"/>
              </a:spcBef>
              <a:spcAft>
                <a:spcPts val="0"/>
              </a:spcAft>
              <a:buClr>
                <a:srgbClr val="002060"/>
              </a:buClr>
              <a:buSzPts val="2800"/>
              <a:buFont typeface="Arial"/>
              <a:buChar char="•"/>
            </a:pPr>
            <a:r>
              <a:rPr lang="en-IN" b="1"/>
              <a:t>Data Collection Methods: </a:t>
            </a:r>
            <a:r>
              <a:rPr lang="en-IN"/>
              <a:t>Explain how you will gather data (surveys, interviews, experiments).</a:t>
            </a:r>
            <a:endParaRPr/>
          </a:p>
          <a:p>
            <a:pPr marL="228600" lvl="0" indent="-228600" algn="l" rtl="0">
              <a:lnSpc>
                <a:spcPct val="90000"/>
              </a:lnSpc>
              <a:spcBef>
                <a:spcPts val="1000"/>
              </a:spcBef>
              <a:spcAft>
                <a:spcPts val="0"/>
              </a:spcAft>
              <a:buClr>
                <a:srgbClr val="002060"/>
              </a:buClr>
              <a:buSzPts val="2800"/>
              <a:buFont typeface="Arial"/>
              <a:buChar char="•"/>
            </a:pPr>
            <a:r>
              <a:rPr lang="en-IN" b="1"/>
              <a:t>Data Analysis Techniques: </a:t>
            </a:r>
            <a:r>
              <a:rPr lang="en-IN"/>
              <a:t>Specify how you will analyze the data (statistical analysis, thematic analysis).</a:t>
            </a:r>
            <a:endParaRPr/>
          </a:p>
          <a:p>
            <a:pPr marL="228600" lvl="0" indent="-228600" algn="l" rtl="0">
              <a:lnSpc>
                <a:spcPct val="90000"/>
              </a:lnSpc>
              <a:spcBef>
                <a:spcPts val="1000"/>
              </a:spcBef>
              <a:spcAft>
                <a:spcPts val="0"/>
              </a:spcAft>
              <a:buClr>
                <a:srgbClr val="002060"/>
              </a:buClr>
              <a:buSzPts val="2800"/>
              <a:buFont typeface="Arial"/>
              <a:buChar char="•"/>
            </a:pPr>
            <a:r>
              <a:rPr lang="en-IN" b="1"/>
              <a:t>Tools and Resources Used: </a:t>
            </a:r>
            <a:r>
              <a:rPr lang="en-IN"/>
              <a:t>Mention any software or tools you plan to use in your project.</a:t>
            </a:r>
            <a:endParaRPr/>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2060"/>
              </a:buClr>
              <a:buSzPts val="2800"/>
              <a:buNone/>
            </a:pPr>
            <a:r>
              <a:rPr lang="en-IN"/>
              <a:t>Use a flowchart to depict your research process.</a:t>
            </a:r>
            <a:endParaRPr/>
          </a:p>
        </p:txBody>
      </p:sp>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Expected Results: </a:t>
            </a:r>
            <a:r>
              <a:rPr lang="en-IN"/>
              <a:t>What do you anticipate as a solution to the problem in your project? Share your expected outcomes.</a:t>
            </a:r>
            <a:endParaRPr/>
          </a:p>
          <a:p>
            <a:pPr marL="228600" lvl="0" indent="-228600" algn="l" rtl="0">
              <a:lnSpc>
                <a:spcPct val="90000"/>
              </a:lnSpc>
              <a:spcBef>
                <a:spcPts val="1000"/>
              </a:spcBef>
              <a:spcAft>
                <a:spcPts val="0"/>
              </a:spcAft>
              <a:buClr>
                <a:srgbClr val="002060"/>
              </a:buClr>
              <a:buSzPts val="2800"/>
              <a:buChar char="•"/>
            </a:pPr>
            <a:r>
              <a:rPr lang="en-IN" b="1"/>
              <a:t>Potential Impact on the Field: </a:t>
            </a:r>
            <a:r>
              <a:rPr lang="en-IN"/>
              <a:t>Discuss how your findings could influence practical implementation or future work.</a:t>
            </a:r>
            <a:endParaRPr/>
          </a:p>
          <a:p>
            <a:pPr marL="228600" lvl="0" indent="-228600" algn="l" rtl="0">
              <a:lnSpc>
                <a:spcPct val="90000"/>
              </a:lnSpc>
              <a:spcBef>
                <a:spcPts val="1000"/>
              </a:spcBef>
              <a:spcAft>
                <a:spcPts val="0"/>
              </a:spcAft>
              <a:buClr>
                <a:srgbClr val="002060"/>
              </a:buClr>
              <a:buSzPts val="2800"/>
              <a:buChar char="•"/>
            </a:pPr>
            <a:r>
              <a:rPr lang="en-IN" b="1"/>
              <a:t>Future Research Directions:</a:t>
            </a:r>
            <a:r>
              <a:rPr lang="en-IN"/>
              <a:t> Suggest how your project might open doors for additional studies.</a:t>
            </a:r>
            <a:endParaRPr/>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02060"/>
              </a:buClr>
              <a:buSzPct val="100000"/>
              <a:buChar char="•"/>
            </a:pPr>
            <a:r>
              <a:rPr lang="en-IN" b="1"/>
              <a:t>Project Timeline Overview</a:t>
            </a:r>
            <a:endParaRPr/>
          </a:p>
          <a:p>
            <a:pPr marL="228600" lvl="0" indent="-228600" algn="l" rtl="0">
              <a:lnSpc>
                <a:spcPct val="90000"/>
              </a:lnSpc>
              <a:spcBef>
                <a:spcPts val="1000"/>
              </a:spcBef>
              <a:spcAft>
                <a:spcPts val="0"/>
              </a:spcAft>
              <a:buClr>
                <a:srgbClr val="002060"/>
              </a:buClr>
              <a:buSzPct val="100000"/>
              <a:buChar char="•"/>
            </a:pPr>
            <a:r>
              <a:rPr lang="en-IN" b="1"/>
              <a:t>Initiation Phase (Weeks 1-2)</a:t>
            </a:r>
            <a:endParaRPr/>
          </a:p>
          <a:p>
            <a:pPr marL="685800" lvl="1" indent="-228600" algn="l" rtl="0">
              <a:lnSpc>
                <a:spcPct val="90000"/>
              </a:lnSpc>
              <a:spcBef>
                <a:spcPts val="500"/>
              </a:spcBef>
              <a:spcAft>
                <a:spcPts val="0"/>
              </a:spcAft>
              <a:buClr>
                <a:schemeClr val="dk1"/>
              </a:buClr>
              <a:buSzPct val="100000"/>
              <a:buChar char="•"/>
            </a:pPr>
            <a:r>
              <a:rPr lang="en-IN"/>
              <a:t>Define project goals and objectives.</a:t>
            </a:r>
            <a:endParaRPr/>
          </a:p>
          <a:p>
            <a:pPr marL="685800" lvl="1" indent="-228600" algn="l" rtl="0">
              <a:lnSpc>
                <a:spcPct val="90000"/>
              </a:lnSpc>
              <a:spcBef>
                <a:spcPts val="500"/>
              </a:spcBef>
              <a:spcAft>
                <a:spcPts val="0"/>
              </a:spcAft>
              <a:buClr>
                <a:schemeClr val="dk1"/>
              </a:buClr>
              <a:buSzPct val="100000"/>
              <a:buChar char="•"/>
            </a:pPr>
            <a:r>
              <a:rPr lang="en-IN"/>
              <a:t>Identify group members and resources.</a:t>
            </a:r>
            <a:endParaRPr/>
          </a:p>
          <a:p>
            <a:pPr marL="685800" lvl="1" indent="-228600" algn="l" rtl="0">
              <a:lnSpc>
                <a:spcPct val="90000"/>
              </a:lnSpc>
              <a:spcBef>
                <a:spcPts val="500"/>
              </a:spcBef>
              <a:spcAft>
                <a:spcPts val="0"/>
              </a:spcAft>
              <a:buClr>
                <a:schemeClr val="dk1"/>
              </a:buClr>
              <a:buSzPct val="100000"/>
              <a:buChar char="•"/>
            </a:pPr>
            <a:r>
              <a:rPr lang="en-IN"/>
              <a:t>Conduct feasibility studies.</a:t>
            </a:r>
            <a:endParaRPr/>
          </a:p>
          <a:p>
            <a:pPr marL="228600" lvl="0" indent="-228600" algn="l" rtl="0">
              <a:lnSpc>
                <a:spcPct val="90000"/>
              </a:lnSpc>
              <a:spcBef>
                <a:spcPts val="1000"/>
              </a:spcBef>
              <a:spcAft>
                <a:spcPts val="0"/>
              </a:spcAft>
              <a:buClr>
                <a:srgbClr val="002060"/>
              </a:buClr>
              <a:buSzPct val="100000"/>
              <a:buChar char="•"/>
            </a:pPr>
            <a:r>
              <a:rPr lang="en-IN" b="1"/>
              <a:t>Planning Phase (Weeks 3-4)</a:t>
            </a:r>
            <a:endParaRPr/>
          </a:p>
          <a:p>
            <a:pPr marL="685800" lvl="1" indent="-228600" algn="l" rtl="0">
              <a:lnSpc>
                <a:spcPct val="90000"/>
              </a:lnSpc>
              <a:spcBef>
                <a:spcPts val="500"/>
              </a:spcBef>
              <a:spcAft>
                <a:spcPts val="0"/>
              </a:spcAft>
              <a:buClr>
                <a:schemeClr val="dk1"/>
              </a:buClr>
              <a:buSzPct val="100000"/>
              <a:buChar char="•"/>
            </a:pPr>
            <a:r>
              <a:rPr lang="en-IN"/>
              <a:t>Develop a detailed project plan, including tasks and timelines.</a:t>
            </a:r>
            <a:endParaRPr/>
          </a:p>
          <a:p>
            <a:pPr marL="685800" lvl="1" indent="-228600" algn="l" rtl="0">
              <a:lnSpc>
                <a:spcPct val="90000"/>
              </a:lnSpc>
              <a:spcBef>
                <a:spcPts val="500"/>
              </a:spcBef>
              <a:spcAft>
                <a:spcPts val="0"/>
              </a:spcAft>
              <a:buClr>
                <a:schemeClr val="dk1"/>
              </a:buClr>
              <a:buSzPct val="100000"/>
              <a:buChar char="•"/>
            </a:pPr>
            <a:r>
              <a:rPr lang="en-IN"/>
              <a:t>Allocate resources and assign responsibilities.</a:t>
            </a:r>
            <a:endParaRPr/>
          </a:p>
          <a:p>
            <a:pPr marL="685800" lvl="1" indent="-228600" algn="l" rtl="0">
              <a:lnSpc>
                <a:spcPct val="90000"/>
              </a:lnSpc>
              <a:spcBef>
                <a:spcPts val="500"/>
              </a:spcBef>
              <a:spcAft>
                <a:spcPts val="0"/>
              </a:spcAft>
              <a:buClr>
                <a:schemeClr val="dk1"/>
              </a:buClr>
              <a:buSzPct val="100000"/>
              <a:buChar char="•"/>
            </a:pPr>
            <a:r>
              <a:rPr lang="en-IN"/>
              <a:t>Create a budget plan.</a:t>
            </a:r>
            <a:endParaRPr/>
          </a:p>
          <a:p>
            <a:pPr marL="228600" lvl="0" indent="-228600" algn="l" rtl="0">
              <a:lnSpc>
                <a:spcPct val="90000"/>
              </a:lnSpc>
              <a:spcBef>
                <a:spcPts val="1000"/>
              </a:spcBef>
              <a:spcAft>
                <a:spcPts val="0"/>
              </a:spcAft>
              <a:buClr>
                <a:srgbClr val="002060"/>
              </a:buClr>
              <a:buSzPct val="100000"/>
              <a:buChar char="•"/>
            </a:pPr>
            <a:r>
              <a:rPr lang="en-IN" b="1"/>
              <a:t>Execution Phase (Weeks 5-10)</a:t>
            </a:r>
            <a:endParaRPr/>
          </a:p>
          <a:p>
            <a:pPr marL="685800" lvl="1" indent="-228600" algn="l" rtl="0">
              <a:lnSpc>
                <a:spcPct val="90000"/>
              </a:lnSpc>
              <a:spcBef>
                <a:spcPts val="500"/>
              </a:spcBef>
              <a:spcAft>
                <a:spcPts val="0"/>
              </a:spcAft>
              <a:buClr>
                <a:schemeClr val="dk1"/>
              </a:buClr>
              <a:buSzPct val="100000"/>
              <a:buChar char="•"/>
            </a:pPr>
            <a:r>
              <a:rPr lang="en-IN"/>
              <a:t>Begin project work according to the project plan.</a:t>
            </a:r>
            <a:endParaRPr/>
          </a:p>
          <a:p>
            <a:pPr marL="685800" lvl="1" indent="-228600" algn="l" rtl="0">
              <a:lnSpc>
                <a:spcPct val="90000"/>
              </a:lnSpc>
              <a:spcBef>
                <a:spcPts val="500"/>
              </a:spcBef>
              <a:spcAft>
                <a:spcPts val="0"/>
              </a:spcAft>
              <a:buClr>
                <a:schemeClr val="dk1"/>
              </a:buClr>
              <a:buSzPct val="100000"/>
              <a:buChar char="•"/>
            </a:pPr>
            <a:r>
              <a:rPr lang="en-IN"/>
              <a:t>Hold regular team meetings to monitor progress.</a:t>
            </a:r>
            <a:endParaRPr/>
          </a:p>
          <a:p>
            <a:pPr marL="685800" lvl="1" indent="-228600" algn="l" rtl="0">
              <a:lnSpc>
                <a:spcPct val="90000"/>
              </a:lnSpc>
              <a:spcBef>
                <a:spcPts val="500"/>
              </a:spcBef>
              <a:spcAft>
                <a:spcPts val="0"/>
              </a:spcAft>
              <a:buClr>
                <a:schemeClr val="dk1"/>
              </a:buClr>
              <a:buSzPct val="100000"/>
              <a:buChar char="•"/>
            </a:pPr>
            <a:r>
              <a:rPr lang="en-IN"/>
              <a:t>Implement communication strategies with group members.</a:t>
            </a:r>
            <a:endParaRPr/>
          </a:p>
          <a:p>
            <a:pPr marL="228600" lvl="0" indent="-228600" algn="l" rtl="0">
              <a:lnSpc>
                <a:spcPct val="90000"/>
              </a:lnSpc>
              <a:spcBef>
                <a:spcPts val="1000"/>
              </a:spcBef>
              <a:spcAft>
                <a:spcPts val="0"/>
              </a:spcAft>
              <a:buClr>
                <a:srgbClr val="002060"/>
              </a:buClr>
              <a:buSzPct val="100000"/>
              <a:buChar char="•"/>
            </a:pPr>
            <a:r>
              <a:rPr lang="en-IN" b="1"/>
              <a:t>Closure Phase (Weeks 11-13)</a:t>
            </a:r>
            <a:endParaRPr/>
          </a:p>
          <a:p>
            <a:pPr marL="685800" lvl="1" indent="-228600" algn="l" rtl="0">
              <a:lnSpc>
                <a:spcPct val="90000"/>
              </a:lnSpc>
              <a:spcBef>
                <a:spcPts val="500"/>
              </a:spcBef>
              <a:spcAft>
                <a:spcPts val="0"/>
              </a:spcAft>
              <a:buClr>
                <a:schemeClr val="dk1"/>
              </a:buClr>
              <a:buSzPct val="100000"/>
              <a:buChar char="•"/>
            </a:pPr>
            <a:r>
              <a:rPr lang="en-IN"/>
              <a:t>Complete final deliverables and obtain panel approval.</a:t>
            </a:r>
            <a:endParaRPr/>
          </a:p>
          <a:p>
            <a:pPr marL="685800" lvl="1" indent="-228600" algn="l" rtl="0">
              <a:lnSpc>
                <a:spcPct val="90000"/>
              </a:lnSpc>
              <a:spcBef>
                <a:spcPts val="500"/>
              </a:spcBef>
              <a:spcAft>
                <a:spcPts val="0"/>
              </a:spcAft>
              <a:buClr>
                <a:schemeClr val="dk1"/>
              </a:buClr>
              <a:buSzPct val="100000"/>
              <a:buChar char="•"/>
            </a:pPr>
            <a:r>
              <a:rPr lang="en-IN"/>
              <a:t>Present in project review and document lessons learned.</a:t>
            </a:r>
            <a:endParaRPr/>
          </a:p>
          <a:p>
            <a:pPr marL="685800" lvl="1" indent="-228600" algn="l" rtl="0">
              <a:lnSpc>
                <a:spcPct val="90000"/>
              </a:lnSpc>
              <a:spcBef>
                <a:spcPts val="500"/>
              </a:spcBef>
              <a:spcAft>
                <a:spcPts val="0"/>
              </a:spcAft>
              <a:buClr>
                <a:schemeClr val="dk1"/>
              </a:buClr>
              <a:buSzPct val="100000"/>
              <a:buChar char="•"/>
            </a:pPr>
            <a:r>
              <a:rPr lang="en-IN"/>
              <a:t>Formally close the project.</a:t>
            </a:r>
            <a:endParaRPr/>
          </a:p>
          <a:p>
            <a:pPr marL="228600" lvl="0" indent="-77470" algn="l" rtl="0">
              <a:lnSpc>
                <a:spcPct val="90000"/>
              </a:lnSpc>
              <a:spcBef>
                <a:spcPts val="1000"/>
              </a:spcBef>
              <a:spcAft>
                <a:spcPts val="0"/>
              </a:spcAft>
              <a:buClr>
                <a:srgbClr val="002060"/>
              </a:buClr>
              <a:buSzPct val="100000"/>
              <a:buNone/>
            </a:pPr>
            <a:endParaRPr/>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Summary of Key Points: </a:t>
            </a:r>
            <a:r>
              <a:rPr lang="en-IN"/>
              <a:t>Recap the most important aspects of your presentation succinctly.</a:t>
            </a:r>
            <a:endParaRPr/>
          </a:p>
          <a:p>
            <a:pPr marL="228600" lvl="0" indent="-228600" algn="l" rtl="0">
              <a:lnSpc>
                <a:spcPct val="90000"/>
              </a:lnSpc>
              <a:spcBef>
                <a:spcPts val="1000"/>
              </a:spcBef>
              <a:spcAft>
                <a:spcPts val="0"/>
              </a:spcAft>
              <a:buClr>
                <a:srgbClr val="002060"/>
              </a:buClr>
              <a:buSzPts val="2800"/>
              <a:buChar char="•"/>
            </a:pPr>
            <a:r>
              <a:rPr lang="en-IN" b="1"/>
              <a:t>Final Thoughts: </a:t>
            </a:r>
            <a:r>
              <a:rPr lang="en-IN"/>
              <a:t>Share a concluding statement.</a:t>
            </a:r>
            <a:endParaRPr/>
          </a:p>
          <a:p>
            <a:pPr marL="228600" lvl="0" indent="-228600" algn="l" rtl="0">
              <a:lnSpc>
                <a:spcPct val="90000"/>
              </a:lnSpc>
              <a:spcBef>
                <a:spcPts val="1000"/>
              </a:spcBef>
              <a:spcAft>
                <a:spcPts val="0"/>
              </a:spcAft>
              <a:buClr>
                <a:srgbClr val="002060"/>
              </a:buClr>
              <a:buSzPts val="2800"/>
              <a:buChar char="•"/>
            </a:pPr>
            <a:r>
              <a:rPr lang="en-IN" b="1"/>
              <a:t>Call to Action or Next Steps: </a:t>
            </a:r>
            <a:r>
              <a:rPr lang="en-IN"/>
              <a:t>Further road map or implications of your work.</a:t>
            </a:r>
            <a:endParaRPr/>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dirty="0"/>
              <a:t>List of References: </a:t>
            </a:r>
            <a:r>
              <a:rPr lang="en-IN" dirty="0"/>
              <a:t>Provide a formatted list of all sources cited in your presentation. ( Journals, conference publications, books, patents etc)</a:t>
            </a:r>
            <a:endParaRPr dirty="0"/>
          </a:p>
          <a:p>
            <a:pPr marL="228600" lvl="0" indent="-228600" algn="l" rtl="0">
              <a:lnSpc>
                <a:spcPct val="90000"/>
              </a:lnSpc>
              <a:spcBef>
                <a:spcPts val="1000"/>
              </a:spcBef>
              <a:spcAft>
                <a:spcPts val="0"/>
              </a:spcAft>
              <a:buClr>
                <a:srgbClr val="002060"/>
              </a:buClr>
              <a:buSzPts val="2800"/>
              <a:buChar char="•"/>
            </a:pPr>
            <a:r>
              <a:rPr lang="en-IN" b="1" dirty="0"/>
              <a:t>Citations in Appropriate Format: </a:t>
            </a:r>
            <a:r>
              <a:rPr lang="en-IN" dirty="0"/>
              <a:t>Use APA citation style.</a:t>
            </a:r>
            <a:endParaRPr dirty="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2300"/>
              <a:buNone/>
            </a:pPr>
            <a:r>
              <a:rPr lang="en-IN" sz="2300"/>
              <a:t>EL should aim for tangible results in one of the following forms:</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Patent Filing: </a:t>
            </a:r>
            <a:r>
              <a:rPr lang="en-IN" sz="2300"/>
              <a:t>If your prototype shows novel functionality or an innovative process, file for a patent. Steps include drafting a patent description, claims, and conducting a prior art search.</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Journal Publication: </a:t>
            </a:r>
            <a:r>
              <a:rPr lang="en-IN" sz="2300"/>
              <a:t>Write a comprehensive paper detailing the methodology, prototype design, testing, and results. Submit to journals related to manufacturing technology, engineering design, or industrial innovation.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Conference Publication: </a:t>
            </a:r>
            <a:r>
              <a:rPr lang="en-IN" sz="2300"/>
              <a:t>Prepare an abstract or full paper for submission to conferences. Present your prototype development, key findings, and future research possibilities (Paper to be drafted as per IEEE format. Format will be shared later 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Research Proposal: </a:t>
            </a:r>
            <a:r>
              <a:rPr lang="en-IN" sz="2300"/>
              <a:t>Propose extending the research into a larger project, securing funding for mass production, or applying the process to different industries. Include objectives, proposed methodology, expected impacts, and a budget estimate.</a:t>
            </a:r>
            <a:endParaRPr/>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Tuesday, 22 October 2024</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Widescreen</PresentationFormat>
  <Paragraphs>91</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BHARATH B L</cp:lastModifiedBy>
  <cp:revision>2</cp:revision>
  <dcterms:created xsi:type="dcterms:W3CDTF">2021-06-02T13:10:21Z</dcterms:created>
  <dcterms:modified xsi:type="dcterms:W3CDTF">2026-09-17T09:29:12Z</dcterms:modified>
</cp:coreProperties>
</file>